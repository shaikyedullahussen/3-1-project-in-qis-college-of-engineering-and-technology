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9" r:id="rId1"/>
  </p:sldMasterIdLst>
  <p:notesMasterIdLst>
    <p:notesMasterId r:id="rId31"/>
  </p:notesMasterIdLst>
  <p:sldIdLst>
    <p:sldId id="258" r:id="rId2"/>
    <p:sldId id="256" r:id="rId3"/>
    <p:sldId id="261" r:id="rId4"/>
    <p:sldId id="331" r:id="rId5"/>
    <p:sldId id="257" r:id="rId6"/>
    <p:sldId id="327" r:id="rId7"/>
    <p:sldId id="329" r:id="rId8"/>
    <p:sldId id="351" r:id="rId9"/>
    <p:sldId id="259" r:id="rId10"/>
    <p:sldId id="332" r:id="rId11"/>
    <p:sldId id="333" r:id="rId12"/>
    <p:sldId id="353" r:id="rId13"/>
    <p:sldId id="341" r:id="rId14"/>
    <p:sldId id="342" r:id="rId15"/>
    <p:sldId id="335" r:id="rId16"/>
    <p:sldId id="340" r:id="rId17"/>
    <p:sldId id="336" r:id="rId18"/>
    <p:sldId id="337" r:id="rId19"/>
    <p:sldId id="338" r:id="rId20"/>
    <p:sldId id="339" r:id="rId21"/>
    <p:sldId id="343" r:id="rId22"/>
    <p:sldId id="344" r:id="rId23"/>
    <p:sldId id="354" r:id="rId24"/>
    <p:sldId id="358" r:id="rId25"/>
    <p:sldId id="359" r:id="rId26"/>
    <p:sldId id="345" r:id="rId27"/>
    <p:sldId id="346" r:id="rId28"/>
    <p:sldId id="347" r:id="rId29"/>
    <p:sldId id="348"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1202F3-34A9-4E5F-AA33-E3A4CE07EAAF}" v="26" dt="2024-11-28T02:31:25.4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42" autoAdjust="0"/>
    <p:restoredTop sz="95337" autoAdjust="0"/>
  </p:normalViewPr>
  <p:slideViewPr>
    <p:cSldViewPr snapToGrid="0">
      <p:cViewPr varScale="1">
        <p:scale>
          <a:sx n="74" d="100"/>
          <a:sy n="74" d="100"/>
        </p:scale>
        <p:origin x="7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k Ameen" userId="4b0754d623453f1d" providerId="LiveId" clId="{6E1202F3-34A9-4E5F-AA33-E3A4CE07EAAF}"/>
    <pc:docChg chg="addSld delSld modSld">
      <pc:chgData name="Shaik Ameen" userId="4b0754d623453f1d" providerId="LiveId" clId="{6E1202F3-34A9-4E5F-AA33-E3A4CE07EAAF}" dt="2024-11-28T02:31:25.496" v="96"/>
      <pc:docMkLst>
        <pc:docMk/>
      </pc:docMkLst>
      <pc:sldChg chg="addSp delSp modSp add mod modTransition">
        <pc:chgData name="Shaik Ameen" userId="4b0754d623453f1d" providerId="LiveId" clId="{6E1202F3-34A9-4E5F-AA33-E3A4CE07EAAF}" dt="2024-11-28T02:30:50.341" v="91"/>
        <pc:sldMkLst>
          <pc:docMk/>
          <pc:sldMk cId="951995441" sldId="261"/>
        </pc:sldMkLst>
        <pc:spChg chg="add del mod">
          <ac:chgData name="Shaik Ameen" userId="4b0754d623453f1d" providerId="LiveId" clId="{6E1202F3-34A9-4E5F-AA33-E3A4CE07EAAF}" dt="2024-11-28T02:29:57.220" v="90" actId="20577"/>
          <ac:spMkLst>
            <pc:docMk/>
            <pc:sldMk cId="951995441" sldId="261"/>
            <ac:spMk id="3" creationId="{D31F426D-DBF7-6330-A9B2-EFE682F82E1B}"/>
          </ac:spMkLst>
        </pc:spChg>
        <pc:graphicFrameChg chg="add mod">
          <ac:chgData name="Shaik Ameen" userId="4b0754d623453f1d" providerId="LiveId" clId="{6E1202F3-34A9-4E5F-AA33-E3A4CE07EAAF}" dt="2024-11-28T02:29:44.733" v="87" actId="12269"/>
          <ac:graphicFrameMkLst>
            <pc:docMk/>
            <pc:sldMk cId="951995441" sldId="261"/>
            <ac:graphicFrameMk id="2" creationId="{86039A13-E3ED-E2CC-FF30-495B780CEB4A}"/>
          </ac:graphicFrameMkLst>
        </pc:graphicFrameChg>
      </pc:sldChg>
      <pc:sldChg chg="del">
        <pc:chgData name="Shaik Ameen" userId="4b0754d623453f1d" providerId="LiveId" clId="{6E1202F3-34A9-4E5F-AA33-E3A4CE07EAAF}" dt="2024-11-28T02:16:03.963" v="5" actId="2696"/>
        <pc:sldMkLst>
          <pc:docMk/>
          <pc:sldMk cId="3888386711" sldId="330"/>
        </pc:sldMkLst>
      </pc:sldChg>
      <pc:sldChg chg="del">
        <pc:chgData name="Shaik Ameen" userId="4b0754d623453f1d" providerId="LiveId" clId="{6E1202F3-34A9-4E5F-AA33-E3A4CE07EAAF}" dt="2024-11-28T02:17:31.285" v="10" actId="2696"/>
        <pc:sldMkLst>
          <pc:docMk/>
          <pc:sldMk cId="1805507172" sldId="349"/>
        </pc:sldMkLst>
      </pc:sldChg>
      <pc:sldChg chg="new del">
        <pc:chgData name="Shaik Ameen" userId="4b0754d623453f1d" providerId="LiveId" clId="{6E1202F3-34A9-4E5F-AA33-E3A4CE07EAAF}" dt="2024-11-28T02:07:33.855" v="2" actId="2696"/>
        <pc:sldMkLst>
          <pc:docMk/>
          <pc:sldMk cId="1750695272" sldId="350"/>
        </pc:sldMkLst>
      </pc:sldChg>
      <pc:sldChg chg="modSp add mod">
        <pc:chgData name="Shaik Ameen" userId="4b0754d623453f1d" providerId="LiveId" clId="{6E1202F3-34A9-4E5F-AA33-E3A4CE07EAAF}" dt="2024-11-28T02:18:01.739" v="11" actId="122"/>
        <pc:sldMkLst>
          <pc:docMk/>
          <pc:sldMk cId="3691126823" sldId="351"/>
        </pc:sldMkLst>
        <pc:spChg chg="mod">
          <ac:chgData name="Shaik Ameen" userId="4b0754d623453f1d" providerId="LiveId" clId="{6E1202F3-34A9-4E5F-AA33-E3A4CE07EAAF}" dt="2024-11-28T02:18:01.739" v="11" actId="122"/>
          <ac:spMkLst>
            <pc:docMk/>
            <pc:sldMk cId="3691126823" sldId="351"/>
            <ac:spMk id="4" creationId="{E5B30D7C-3781-F6B8-783A-857CF77A8859}"/>
          </ac:spMkLst>
        </pc:spChg>
      </pc:sldChg>
      <pc:sldChg chg="new del">
        <pc:chgData name="Shaik Ameen" userId="4b0754d623453f1d" providerId="LiveId" clId="{6E1202F3-34A9-4E5F-AA33-E3A4CE07EAAF}" dt="2024-11-28T02:16:09.271" v="6" actId="2696"/>
        <pc:sldMkLst>
          <pc:docMk/>
          <pc:sldMk cId="1791689086" sldId="352"/>
        </pc:sldMkLst>
      </pc:sldChg>
      <pc:sldChg chg="new del">
        <pc:chgData name="Shaik Ameen" userId="4b0754d623453f1d" providerId="LiveId" clId="{6E1202F3-34A9-4E5F-AA33-E3A4CE07EAAF}" dt="2024-11-28T02:17:28.435" v="9" actId="2696"/>
        <pc:sldMkLst>
          <pc:docMk/>
          <pc:sldMk cId="2207183723" sldId="352"/>
        </pc:sldMkLst>
      </pc:sldChg>
      <pc:sldChg chg="add">
        <pc:chgData name="Shaik Ameen" userId="4b0754d623453f1d" providerId="LiveId" clId="{6E1202F3-34A9-4E5F-AA33-E3A4CE07EAAF}" dt="2024-11-28T02:17:25.574" v="8"/>
        <pc:sldMkLst>
          <pc:docMk/>
          <pc:sldMk cId="1101360578" sldId="353"/>
        </pc:sldMkLst>
      </pc:sldChg>
      <pc:sldChg chg="addSp delSp modSp new mod modTransition">
        <pc:chgData name="Shaik Ameen" userId="4b0754d623453f1d" providerId="LiveId" clId="{6E1202F3-34A9-4E5F-AA33-E3A4CE07EAAF}" dt="2024-11-28T02:31:05.575" v="92"/>
        <pc:sldMkLst>
          <pc:docMk/>
          <pc:sldMk cId="3924226758" sldId="354"/>
        </pc:sldMkLst>
        <pc:spChg chg="add mod">
          <ac:chgData name="Shaik Ameen" userId="4b0754d623453f1d" providerId="LiveId" clId="{6E1202F3-34A9-4E5F-AA33-E3A4CE07EAAF}" dt="2024-11-28T02:19:58.143" v="13"/>
          <ac:spMkLst>
            <pc:docMk/>
            <pc:sldMk cId="3924226758" sldId="354"/>
            <ac:spMk id="2" creationId="{AE53EF5D-9013-BBD9-E969-3B9ED74D7D78}"/>
          </ac:spMkLst>
        </pc:spChg>
        <pc:spChg chg="add del mod">
          <ac:chgData name="Shaik Ameen" userId="4b0754d623453f1d" providerId="LiveId" clId="{6E1202F3-34A9-4E5F-AA33-E3A4CE07EAAF}" dt="2024-11-28T02:21:33.326" v="29"/>
          <ac:spMkLst>
            <pc:docMk/>
            <pc:sldMk cId="3924226758" sldId="354"/>
            <ac:spMk id="4" creationId="{14585721-D87E-2DB4-2DCC-09C1B6351325}"/>
          </ac:spMkLst>
        </pc:spChg>
        <pc:spChg chg="add mod">
          <ac:chgData name="Shaik Ameen" userId="4b0754d623453f1d" providerId="LiveId" clId="{6E1202F3-34A9-4E5F-AA33-E3A4CE07EAAF}" dt="2024-11-28T02:22:56.207" v="36" actId="122"/>
          <ac:spMkLst>
            <pc:docMk/>
            <pc:sldMk cId="3924226758" sldId="354"/>
            <ac:spMk id="6" creationId="{EE4B3D36-00B6-2BA2-3C17-1B5DAC901F21}"/>
          </ac:spMkLst>
        </pc:spChg>
        <pc:picChg chg="add mod">
          <ac:chgData name="Shaik Ameen" userId="4b0754d623453f1d" providerId="LiveId" clId="{6E1202F3-34A9-4E5F-AA33-E3A4CE07EAAF}" dt="2024-11-28T02:20:13.101" v="14"/>
          <ac:picMkLst>
            <pc:docMk/>
            <pc:sldMk cId="3924226758" sldId="354"/>
            <ac:picMk id="3" creationId="{463DC5B4-2C4C-FAA7-C8F3-5DEB68397880}"/>
          </ac:picMkLst>
        </pc:picChg>
      </pc:sldChg>
      <pc:sldChg chg="addSp modSp new mod modTransition">
        <pc:chgData name="Shaik Ameen" userId="4b0754d623453f1d" providerId="LiveId" clId="{6E1202F3-34A9-4E5F-AA33-E3A4CE07EAAF}" dt="2024-11-28T02:31:10.727" v="93"/>
        <pc:sldMkLst>
          <pc:docMk/>
          <pc:sldMk cId="4069304656" sldId="355"/>
        </pc:sldMkLst>
        <pc:spChg chg="add mod">
          <ac:chgData name="Shaik Ameen" userId="4b0754d623453f1d" providerId="LiveId" clId="{6E1202F3-34A9-4E5F-AA33-E3A4CE07EAAF}" dt="2024-11-28T02:25:43.726" v="58" actId="255"/>
          <ac:spMkLst>
            <pc:docMk/>
            <pc:sldMk cId="4069304656" sldId="355"/>
            <ac:spMk id="3" creationId="{E82E7E47-B6C6-D757-518F-F664360047B6}"/>
          </ac:spMkLst>
        </pc:spChg>
        <pc:spChg chg="add mod">
          <ac:chgData name="Shaik Ameen" userId="4b0754d623453f1d" providerId="LiveId" clId="{6E1202F3-34A9-4E5F-AA33-E3A4CE07EAAF}" dt="2024-11-28T02:28:08.682" v="77"/>
          <ac:spMkLst>
            <pc:docMk/>
            <pc:sldMk cId="4069304656" sldId="355"/>
            <ac:spMk id="4" creationId="{FA0A4A0C-906E-68E5-EA4F-B909832F127D}"/>
          </ac:spMkLst>
        </pc:spChg>
        <pc:picChg chg="add mod">
          <ac:chgData name="Shaik Ameen" userId="4b0754d623453f1d" providerId="LiveId" clId="{6E1202F3-34A9-4E5F-AA33-E3A4CE07EAAF}" dt="2024-11-28T02:28:25.796" v="81"/>
          <ac:picMkLst>
            <pc:docMk/>
            <pc:sldMk cId="4069304656" sldId="355"/>
            <ac:picMk id="5" creationId="{1CCB4FAE-FCB4-FB42-81FA-98D3EEA75E37}"/>
          </ac:picMkLst>
        </pc:picChg>
      </pc:sldChg>
      <pc:sldChg chg="addSp modSp new mod modTransition">
        <pc:chgData name="Shaik Ameen" userId="4b0754d623453f1d" providerId="LiveId" clId="{6E1202F3-34A9-4E5F-AA33-E3A4CE07EAAF}" dt="2024-11-28T02:31:15.516" v="94"/>
        <pc:sldMkLst>
          <pc:docMk/>
          <pc:sldMk cId="752711058" sldId="356"/>
        </pc:sldMkLst>
        <pc:spChg chg="add">
          <ac:chgData name="Shaik Ameen" userId="4b0754d623453f1d" providerId="LiveId" clId="{6E1202F3-34A9-4E5F-AA33-E3A4CE07EAAF}" dt="2024-11-28T02:24:27.199" v="42" actId="22"/>
          <ac:spMkLst>
            <pc:docMk/>
            <pc:sldMk cId="752711058" sldId="356"/>
            <ac:spMk id="3" creationId="{B7B5A07E-08E9-4861-A209-8529FEB6391D}"/>
          </ac:spMkLst>
        </pc:spChg>
        <pc:spChg chg="add mod">
          <ac:chgData name="Shaik Ameen" userId="4b0754d623453f1d" providerId="LiveId" clId="{6E1202F3-34A9-4E5F-AA33-E3A4CE07EAAF}" dt="2024-11-28T02:28:10.794" v="78"/>
          <ac:spMkLst>
            <pc:docMk/>
            <pc:sldMk cId="752711058" sldId="356"/>
            <ac:spMk id="4" creationId="{508FF351-65FF-FD0A-E690-4A2ACD63C4D8}"/>
          </ac:spMkLst>
        </pc:spChg>
        <pc:picChg chg="add mod">
          <ac:chgData name="Shaik Ameen" userId="4b0754d623453f1d" providerId="LiveId" clId="{6E1202F3-34A9-4E5F-AA33-E3A4CE07EAAF}" dt="2024-11-28T02:28:30.299" v="82"/>
          <ac:picMkLst>
            <pc:docMk/>
            <pc:sldMk cId="752711058" sldId="356"/>
            <ac:picMk id="5" creationId="{02F53A02-3658-88CC-03B3-2ADFBE6BAAE3}"/>
          </ac:picMkLst>
        </pc:picChg>
      </pc:sldChg>
      <pc:sldChg chg="addSp modSp new mod modTransition">
        <pc:chgData name="Shaik Ameen" userId="4b0754d623453f1d" providerId="LiveId" clId="{6E1202F3-34A9-4E5F-AA33-E3A4CE07EAAF}" dt="2024-11-28T02:31:20.745" v="95"/>
        <pc:sldMkLst>
          <pc:docMk/>
          <pc:sldMk cId="178093121" sldId="357"/>
        </pc:sldMkLst>
        <pc:spChg chg="add mod">
          <ac:chgData name="Shaik Ameen" userId="4b0754d623453f1d" providerId="LiveId" clId="{6E1202F3-34A9-4E5F-AA33-E3A4CE07EAAF}" dt="2024-11-28T02:26:34.831" v="68" actId="5793"/>
          <ac:spMkLst>
            <pc:docMk/>
            <pc:sldMk cId="178093121" sldId="357"/>
            <ac:spMk id="3" creationId="{F4BA361C-7A52-53B2-CB49-5DFFBDF6B35F}"/>
          </ac:spMkLst>
        </pc:spChg>
        <pc:spChg chg="add mod">
          <ac:chgData name="Shaik Ameen" userId="4b0754d623453f1d" providerId="LiveId" clId="{6E1202F3-34A9-4E5F-AA33-E3A4CE07EAAF}" dt="2024-11-28T02:28:13.145" v="79"/>
          <ac:spMkLst>
            <pc:docMk/>
            <pc:sldMk cId="178093121" sldId="357"/>
            <ac:spMk id="4" creationId="{8BF055B4-A667-30E9-7539-F7B436A7045E}"/>
          </ac:spMkLst>
        </pc:spChg>
        <pc:picChg chg="add mod">
          <ac:chgData name="Shaik Ameen" userId="4b0754d623453f1d" providerId="LiveId" clId="{6E1202F3-34A9-4E5F-AA33-E3A4CE07EAAF}" dt="2024-11-28T02:28:33.732" v="83"/>
          <ac:picMkLst>
            <pc:docMk/>
            <pc:sldMk cId="178093121" sldId="357"/>
            <ac:picMk id="5" creationId="{5AF69AA0-C2D5-7195-23AA-B2F1232ACFA8}"/>
          </ac:picMkLst>
        </pc:picChg>
      </pc:sldChg>
      <pc:sldChg chg="addSp modSp new mod modTransition">
        <pc:chgData name="Shaik Ameen" userId="4b0754d623453f1d" providerId="LiveId" clId="{6E1202F3-34A9-4E5F-AA33-E3A4CE07EAAF}" dt="2024-11-28T02:31:25.496" v="96"/>
        <pc:sldMkLst>
          <pc:docMk/>
          <pc:sldMk cId="1176229790" sldId="358"/>
        </pc:sldMkLst>
        <pc:spChg chg="add mod">
          <ac:chgData name="Shaik Ameen" userId="4b0754d623453f1d" providerId="LiveId" clId="{6E1202F3-34A9-4E5F-AA33-E3A4CE07EAAF}" dt="2024-11-28T02:27:34.213" v="76" actId="1076"/>
          <ac:spMkLst>
            <pc:docMk/>
            <pc:sldMk cId="1176229790" sldId="358"/>
            <ac:spMk id="3" creationId="{5F994DC3-D93C-2750-0170-1C38DACD125E}"/>
          </ac:spMkLst>
        </pc:spChg>
        <pc:spChg chg="add mod">
          <ac:chgData name="Shaik Ameen" userId="4b0754d623453f1d" providerId="LiveId" clId="{6E1202F3-34A9-4E5F-AA33-E3A4CE07EAAF}" dt="2024-11-28T02:28:15.618" v="80"/>
          <ac:spMkLst>
            <pc:docMk/>
            <pc:sldMk cId="1176229790" sldId="358"/>
            <ac:spMk id="4" creationId="{0DABD734-6D94-5E3B-A16A-36CE9A0BF6E4}"/>
          </ac:spMkLst>
        </pc:spChg>
        <pc:picChg chg="add mod">
          <ac:chgData name="Shaik Ameen" userId="4b0754d623453f1d" providerId="LiveId" clId="{6E1202F3-34A9-4E5F-AA33-E3A4CE07EAAF}" dt="2024-11-28T02:28:36.569" v="84"/>
          <ac:picMkLst>
            <pc:docMk/>
            <pc:sldMk cId="1176229790" sldId="358"/>
            <ac:picMk id="5" creationId="{6AF3DE27-5249-E13B-A760-E8A06BF25AA6}"/>
          </ac:picMkLst>
        </pc:picChg>
      </pc:sldChg>
    </pc:docChg>
  </pc:docChgLst>
  <pc:docChgLst>
    <pc:chgData name="Shaik Ameen" userId="4b0754d623453f1d" providerId="LiveId" clId="{39DC7FF6-5098-4B2B-BC7C-CBD9F26AF4F6}"/>
    <pc:docChg chg="undo custSel addSld delSld modSld sldOrd">
      <pc:chgData name="Shaik Ameen" userId="4b0754d623453f1d" providerId="LiveId" clId="{39DC7FF6-5098-4B2B-BC7C-CBD9F26AF4F6}" dt="2024-11-04T10:57:41.752" v="481" actId="20577"/>
      <pc:docMkLst>
        <pc:docMk/>
      </pc:docMkLst>
      <pc:sldChg chg="modSp mod">
        <pc:chgData name="Shaik Ameen" userId="4b0754d623453f1d" providerId="LiveId" clId="{39DC7FF6-5098-4B2B-BC7C-CBD9F26AF4F6}" dt="2024-11-04T09:31:11.826" v="272" actId="14100"/>
        <pc:sldMkLst>
          <pc:docMk/>
          <pc:sldMk cId="2939574171" sldId="333"/>
        </pc:sldMkLst>
        <pc:spChg chg="mod">
          <ac:chgData name="Shaik Ameen" userId="4b0754d623453f1d" providerId="LiveId" clId="{39DC7FF6-5098-4B2B-BC7C-CBD9F26AF4F6}" dt="2024-11-04T09:30:14.428" v="271" actId="20577"/>
          <ac:spMkLst>
            <pc:docMk/>
            <pc:sldMk cId="2939574171" sldId="333"/>
            <ac:spMk id="2" creationId="{B9AC3237-1975-DC66-3D35-4EAB2A194E32}"/>
          </ac:spMkLst>
        </pc:spChg>
        <pc:picChg chg="mod">
          <ac:chgData name="Shaik Ameen" userId="4b0754d623453f1d" providerId="LiveId" clId="{39DC7FF6-5098-4B2B-BC7C-CBD9F26AF4F6}" dt="2024-11-04T09:31:11.826" v="272" actId="14100"/>
          <ac:picMkLst>
            <pc:docMk/>
            <pc:sldMk cId="2939574171" sldId="333"/>
            <ac:picMk id="5" creationId="{82199D42-4C24-8C54-A8DB-F90E2B24ED06}"/>
          </ac:picMkLst>
        </pc:picChg>
      </pc:sldChg>
      <pc:sldChg chg="addSp delSp modSp mod">
        <pc:chgData name="Shaik Ameen" userId="4b0754d623453f1d" providerId="LiveId" clId="{39DC7FF6-5098-4B2B-BC7C-CBD9F26AF4F6}" dt="2024-11-04T10:57:41.752" v="481" actId="20577"/>
        <pc:sldMkLst>
          <pc:docMk/>
          <pc:sldMk cId="3454682724" sldId="336"/>
        </pc:sldMkLst>
        <pc:spChg chg="add mod">
          <ac:chgData name="Shaik Ameen" userId="4b0754d623453f1d" providerId="LiveId" clId="{39DC7FF6-5098-4B2B-BC7C-CBD9F26AF4F6}" dt="2024-11-04T10:57:41.752" v="481" actId="20577"/>
          <ac:spMkLst>
            <pc:docMk/>
            <pc:sldMk cId="3454682724" sldId="336"/>
            <ac:spMk id="2" creationId="{3E2B5DA4-83DF-1248-D794-F252D9E226DB}"/>
          </ac:spMkLst>
        </pc:spChg>
        <pc:spChg chg="del mod">
          <ac:chgData name="Shaik Ameen" userId="4b0754d623453f1d" providerId="LiveId" clId="{39DC7FF6-5098-4B2B-BC7C-CBD9F26AF4F6}" dt="2024-11-04T09:06:45.306" v="31" actId="478"/>
          <ac:spMkLst>
            <pc:docMk/>
            <pc:sldMk cId="3454682724" sldId="336"/>
            <ac:spMk id="2" creationId="{4EE6E361-4EBE-EFEA-0A75-ED8297C73B8B}"/>
          </ac:spMkLst>
        </pc:spChg>
        <pc:spChg chg="mod">
          <ac:chgData name="Shaik Ameen" userId="4b0754d623453f1d" providerId="LiveId" clId="{39DC7FF6-5098-4B2B-BC7C-CBD9F26AF4F6}" dt="2024-11-04T09:06:53.840" v="32" actId="1076"/>
          <ac:spMkLst>
            <pc:docMk/>
            <pc:sldMk cId="3454682724" sldId="336"/>
            <ac:spMk id="5" creationId="{278FB353-0FAE-E6C5-AC3D-775986303BC3}"/>
          </ac:spMkLst>
        </pc:spChg>
        <pc:picChg chg="del">
          <ac:chgData name="Shaik Ameen" userId="4b0754d623453f1d" providerId="LiveId" clId="{39DC7FF6-5098-4B2B-BC7C-CBD9F26AF4F6}" dt="2024-11-04T09:06:35.763" v="29" actId="478"/>
          <ac:picMkLst>
            <pc:docMk/>
            <pc:sldMk cId="3454682724" sldId="336"/>
            <ac:picMk id="4" creationId="{53805A16-E97A-47A2-44A8-B7A5FCBA9251}"/>
          </ac:picMkLst>
        </pc:picChg>
        <pc:picChg chg="mod">
          <ac:chgData name="Shaik Ameen" userId="4b0754d623453f1d" providerId="LiveId" clId="{39DC7FF6-5098-4B2B-BC7C-CBD9F26AF4F6}" dt="2024-11-04T10:47:32.312" v="303" actId="1076"/>
          <ac:picMkLst>
            <pc:docMk/>
            <pc:sldMk cId="3454682724" sldId="336"/>
            <ac:picMk id="10" creationId="{EB521A2E-8C27-18A9-F2B1-4500735E7343}"/>
          </ac:picMkLst>
        </pc:picChg>
      </pc:sldChg>
      <pc:sldChg chg="modSp mod">
        <pc:chgData name="Shaik Ameen" userId="4b0754d623453f1d" providerId="LiveId" clId="{39DC7FF6-5098-4B2B-BC7C-CBD9F26AF4F6}" dt="2024-11-04T10:21:38.644" v="299"/>
        <pc:sldMkLst>
          <pc:docMk/>
          <pc:sldMk cId="2334623882" sldId="338"/>
        </pc:sldMkLst>
        <pc:spChg chg="mod">
          <ac:chgData name="Shaik Ameen" userId="4b0754d623453f1d" providerId="LiveId" clId="{39DC7FF6-5098-4B2B-BC7C-CBD9F26AF4F6}" dt="2024-11-04T10:21:18.188" v="279" actId="14100"/>
          <ac:spMkLst>
            <pc:docMk/>
            <pc:sldMk cId="2334623882" sldId="338"/>
            <ac:spMk id="2" creationId="{1709812B-50D8-8DAB-C2F1-971014043B6F}"/>
          </ac:spMkLst>
        </pc:spChg>
        <pc:spChg chg="mod">
          <ac:chgData name="Shaik Ameen" userId="4b0754d623453f1d" providerId="LiveId" clId="{39DC7FF6-5098-4B2B-BC7C-CBD9F26AF4F6}" dt="2024-11-04T10:21:38.644" v="299"/>
          <ac:spMkLst>
            <pc:docMk/>
            <pc:sldMk cId="2334623882" sldId="338"/>
            <ac:spMk id="3" creationId="{72ECACE4-CFB1-B85A-400C-47286AF8C511}"/>
          </ac:spMkLst>
        </pc:spChg>
        <pc:picChg chg="mod">
          <ac:chgData name="Shaik Ameen" userId="4b0754d623453f1d" providerId="LiveId" clId="{39DC7FF6-5098-4B2B-BC7C-CBD9F26AF4F6}" dt="2024-11-04T10:21:21.889" v="280" actId="1076"/>
          <ac:picMkLst>
            <pc:docMk/>
            <pc:sldMk cId="2334623882" sldId="338"/>
            <ac:picMk id="5" creationId="{60E2857C-D3F8-D457-FA53-9D674B4D4A26}"/>
          </ac:picMkLst>
        </pc:picChg>
        <pc:picChg chg="mod">
          <ac:chgData name="Shaik Ameen" userId="4b0754d623453f1d" providerId="LiveId" clId="{39DC7FF6-5098-4B2B-BC7C-CBD9F26AF4F6}" dt="2024-11-04T10:21:25.269" v="281" actId="1076"/>
          <ac:picMkLst>
            <pc:docMk/>
            <pc:sldMk cId="2334623882" sldId="338"/>
            <ac:picMk id="6" creationId="{28EE28E7-E2A5-1628-4BB4-F752D7C6626B}"/>
          </ac:picMkLst>
        </pc:picChg>
      </pc:sldChg>
      <pc:sldChg chg="ord">
        <pc:chgData name="Shaik Ameen" userId="4b0754d623453f1d" providerId="LiveId" clId="{39DC7FF6-5098-4B2B-BC7C-CBD9F26AF4F6}" dt="2024-11-04T10:47:26.100" v="302" actId="20578"/>
        <pc:sldMkLst>
          <pc:docMk/>
          <pc:sldMk cId="241175396" sldId="339"/>
        </pc:sldMkLst>
      </pc:sldChg>
      <pc:sldChg chg="addSp delSp modSp add del mod">
        <pc:chgData name="Shaik Ameen" userId="4b0754d623453f1d" providerId="LiveId" clId="{39DC7FF6-5098-4B2B-BC7C-CBD9F26AF4F6}" dt="2024-11-04T09:05:09.392" v="28" actId="1076"/>
        <pc:sldMkLst>
          <pc:docMk/>
          <pc:sldMk cId="1805507172" sldId="349"/>
        </pc:sldMkLst>
        <pc:spChg chg="del">
          <ac:chgData name="Shaik Ameen" userId="4b0754d623453f1d" providerId="LiveId" clId="{39DC7FF6-5098-4B2B-BC7C-CBD9F26AF4F6}" dt="2024-11-04T09:01:56.969" v="8" actId="478"/>
          <ac:spMkLst>
            <pc:docMk/>
            <pc:sldMk cId="1805507172" sldId="349"/>
            <ac:spMk id="2" creationId="{C18AE45B-0A79-8533-DECE-A276D14BF3E6}"/>
          </ac:spMkLst>
        </pc:spChg>
        <pc:spChg chg="del mod">
          <ac:chgData name="Shaik Ameen" userId="4b0754d623453f1d" providerId="LiveId" clId="{39DC7FF6-5098-4B2B-BC7C-CBD9F26AF4F6}" dt="2024-11-04T09:01:53.942" v="7" actId="478"/>
          <ac:spMkLst>
            <pc:docMk/>
            <pc:sldMk cId="1805507172" sldId="349"/>
            <ac:spMk id="4" creationId="{4CC130C0-187D-368F-1675-FF31290B68B5}"/>
          </ac:spMkLst>
        </pc:spChg>
        <pc:spChg chg="add del mod">
          <ac:chgData name="Shaik Ameen" userId="4b0754d623453f1d" providerId="LiveId" clId="{39DC7FF6-5098-4B2B-BC7C-CBD9F26AF4F6}" dt="2024-11-04T08:57:34.403" v="3" actId="21"/>
          <ac:spMkLst>
            <pc:docMk/>
            <pc:sldMk cId="1805507172" sldId="349"/>
            <ac:spMk id="5" creationId="{50337587-2A24-0830-1724-37E84EDE8EBE}"/>
          </ac:spMkLst>
        </pc:spChg>
        <pc:spChg chg="add del mod">
          <ac:chgData name="Shaik Ameen" userId="4b0754d623453f1d" providerId="LiveId" clId="{39DC7FF6-5098-4B2B-BC7C-CBD9F26AF4F6}" dt="2024-11-04T09:04:24.749" v="21" actId="478"/>
          <ac:spMkLst>
            <pc:docMk/>
            <pc:sldMk cId="1805507172" sldId="349"/>
            <ac:spMk id="6" creationId="{DD2D8321-74F4-07FA-67DF-45F2A7F6487C}"/>
          </ac:spMkLst>
        </pc:spChg>
        <pc:spChg chg="add mod">
          <ac:chgData name="Shaik Ameen" userId="4b0754d623453f1d" providerId="LiveId" clId="{39DC7FF6-5098-4B2B-BC7C-CBD9F26AF4F6}" dt="2024-11-04T09:04:42.083" v="25" actId="1076"/>
          <ac:spMkLst>
            <pc:docMk/>
            <pc:sldMk cId="1805507172" sldId="349"/>
            <ac:spMk id="15" creationId="{92001C16-EF55-C466-D1E9-A33CFE52E578}"/>
          </ac:spMkLst>
        </pc:spChg>
        <pc:spChg chg="add mod">
          <ac:chgData name="Shaik Ameen" userId="4b0754d623453f1d" providerId="LiveId" clId="{39DC7FF6-5098-4B2B-BC7C-CBD9F26AF4F6}" dt="2024-11-04T09:04:51.691" v="26"/>
          <ac:spMkLst>
            <pc:docMk/>
            <pc:sldMk cId="1805507172" sldId="349"/>
            <ac:spMk id="16" creationId="{C63E87DD-D6DF-D8A2-D375-AEEC21F9712B}"/>
          </ac:spMkLst>
        </pc:spChg>
        <pc:picChg chg="del">
          <ac:chgData name="Shaik Ameen" userId="4b0754d623453f1d" providerId="LiveId" clId="{39DC7FF6-5098-4B2B-BC7C-CBD9F26AF4F6}" dt="2024-11-04T09:01:59.834" v="9" actId="478"/>
          <ac:picMkLst>
            <pc:docMk/>
            <pc:sldMk cId="1805507172" sldId="349"/>
            <ac:picMk id="3" creationId="{57A33A51-D491-5559-F05A-C42A59F4A36A}"/>
          </ac:picMkLst>
        </pc:picChg>
        <pc:picChg chg="add mod">
          <ac:chgData name="Shaik Ameen" userId="4b0754d623453f1d" providerId="LiveId" clId="{39DC7FF6-5098-4B2B-BC7C-CBD9F26AF4F6}" dt="2024-11-04T09:05:09.392" v="28" actId="1076"/>
          <ac:picMkLst>
            <pc:docMk/>
            <pc:sldMk cId="1805507172" sldId="349"/>
            <ac:picMk id="17" creationId="{23D7F7B0-6E0A-6CD2-A4C9-2D7FF65FF5E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A416B-34E4-479E-A298-0601A74E6E6A}" type="datetimeFigureOut">
              <a:rPr lang="en-IN" smtClean="0"/>
              <a:t>18-10-2025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446BFD-3A76-4473-88A5-979BA4DE48EB}" type="slidenum">
              <a:rPr lang="en-IN" smtClean="0"/>
              <a:t>‹#›</a:t>
            </a:fld>
            <a:endParaRPr lang="en-IN"/>
          </a:p>
        </p:txBody>
      </p:sp>
    </p:spTree>
    <p:extLst>
      <p:ext uri="{BB962C8B-B14F-4D97-AF65-F5344CB8AC3E}">
        <p14:creationId xmlns:p14="http://schemas.microsoft.com/office/powerpoint/2010/main" val="2503180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F446BFD-3A76-4473-88A5-979BA4DE48EB}" type="slidenum">
              <a:rPr lang="en-IN" smtClean="0"/>
              <a:t>5</a:t>
            </a:fld>
            <a:endParaRPr lang="en-IN"/>
          </a:p>
        </p:txBody>
      </p:sp>
    </p:spTree>
    <p:extLst>
      <p:ext uri="{BB962C8B-B14F-4D97-AF65-F5344CB8AC3E}">
        <p14:creationId xmlns:p14="http://schemas.microsoft.com/office/powerpoint/2010/main" val="3936457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5D3E24F-739E-4092-AEF5-1709F1E485A0}" type="datetimeFigureOut">
              <a:rPr lang="en-IN" smtClean="0"/>
              <a:t>18-10-2025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4130582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D3E24F-739E-4092-AEF5-1709F1E485A0}"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2129867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D3E24F-739E-4092-AEF5-1709F1E485A0}"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210853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D3E24F-739E-4092-AEF5-1709F1E485A0}"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2148008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D3E24F-739E-4092-AEF5-1709F1E485A0}" type="datetimeFigureOut">
              <a:rPr lang="en-IN" smtClean="0"/>
              <a:t>18-10-2025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1679421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D3E24F-739E-4092-AEF5-1709F1E485A0}" type="datetimeFigureOut">
              <a:rPr lang="en-IN" smtClean="0"/>
              <a:t>18-10-2025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518869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D3E24F-739E-4092-AEF5-1709F1E485A0}" type="datetimeFigureOut">
              <a:rPr lang="en-IN" smtClean="0"/>
              <a:t>18-10-2025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1339590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D3E24F-739E-4092-AEF5-1709F1E485A0}"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263565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D3E24F-739E-4092-AEF5-1709F1E485A0}"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1825839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D3E24F-739E-4092-AEF5-1709F1E485A0}"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384341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D3E24F-739E-4092-AEF5-1709F1E485A0}"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376588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D3E24F-739E-4092-AEF5-1709F1E485A0}"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BD2B3C-AEF9-4AE1-80E3-C118A468EF81}" type="slidenum">
              <a:rPr lang="en-IN" smtClean="0"/>
              <a:t>‹#›</a:t>
            </a:fld>
            <a:endParaRPr lang="en-IN"/>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53855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D3E24F-739E-4092-AEF5-1709F1E485A0}"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3596606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5D3E24F-739E-4092-AEF5-1709F1E485A0}" type="datetimeFigureOut">
              <a:rPr lang="en-IN" smtClean="0"/>
              <a:t>18-10-2025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26982383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5D3E24F-739E-4092-AEF5-1709F1E485A0}" type="datetimeFigureOut">
              <a:rPr lang="en-IN" smtClean="0"/>
              <a:t>18-10-2025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692809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D3E24F-739E-4092-AEF5-1709F1E485A0}"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12774479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D3E24F-739E-4092-AEF5-1709F1E485A0}"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BD2B3C-AEF9-4AE1-80E3-C118A468EF81}" type="slidenum">
              <a:rPr lang="en-IN" smtClean="0"/>
              <a:t>‹#›</a:t>
            </a:fld>
            <a:endParaRPr lang="en-IN"/>
          </a:p>
        </p:txBody>
      </p:sp>
    </p:spTree>
    <p:extLst>
      <p:ext uri="{BB962C8B-B14F-4D97-AF65-F5344CB8AC3E}">
        <p14:creationId xmlns:p14="http://schemas.microsoft.com/office/powerpoint/2010/main" val="579669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E5D3E24F-739E-4092-AEF5-1709F1E485A0}" type="datetimeFigureOut">
              <a:rPr lang="en-IN" smtClean="0"/>
              <a:t>18-10-2025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77BD2B3C-AEF9-4AE1-80E3-C118A468EF81}" type="slidenum">
              <a:rPr lang="en-IN" smtClean="0"/>
              <a:t>‹#›</a:t>
            </a:fld>
            <a:endParaRPr lang="en-IN"/>
          </a:p>
        </p:txBody>
      </p:sp>
    </p:spTree>
    <p:extLst>
      <p:ext uri="{BB962C8B-B14F-4D97-AF65-F5344CB8AC3E}">
        <p14:creationId xmlns:p14="http://schemas.microsoft.com/office/powerpoint/2010/main" val="2052657808"/>
      </p:ext>
    </p:extLst>
  </p:cSld>
  <p:clrMap bg1="dk1" tx1="lt1" bg2="dk2" tx2="lt2" accent1="accent1" accent2="accent2" accent3="accent3" accent4="accent4" accent5="accent5" accent6="accent6" hlink="hlink" folHlink="folHlink"/>
  <p:sldLayoutIdLst>
    <p:sldLayoutId id="2147483930" r:id="rId1"/>
    <p:sldLayoutId id="2147483931"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 id="2147483941" r:id="rId12"/>
    <p:sldLayoutId id="2147483942" r:id="rId13"/>
    <p:sldLayoutId id="2147483943" r:id="rId14"/>
    <p:sldLayoutId id="2147483944" r:id="rId15"/>
    <p:sldLayoutId id="2147483945" r:id="rId16"/>
    <p:sldLayoutId id="2147483946"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6B9557-38DE-F51A-7372-BCEE16EE76F7}"/>
              </a:ext>
            </a:extLst>
          </p:cNvPr>
          <p:cNvSpPr/>
          <p:nvPr/>
        </p:nvSpPr>
        <p:spPr>
          <a:xfrm>
            <a:off x="190919" y="80386"/>
            <a:ext cx="11836958" cy="6618863"/>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4" name="TextBox 3">
            <a:extLst>
              <a:ext uri="{FF2B5EF4-FFF2-40B4-BE49-F238E27FC236}">
                <a16:creationId xmlns:a16="http://schemas.microsoft.com/office/drawing/2014/main" id="{DD46644B-7682-0A41-0A04-F8A14B25774C}"/>
              </a:ext>
            </a:extLst>
          </p:cNvPr>
          <p:cNvSpPr txBox="1"/>
          <p:nvPr/>
        </p:nvSpPr>
        <p:spPr>
          <a:xfrm>
            <a:off x="839972" y="2140803"/>
            <a:ext cx="10925308" cy="461665"/>
          </a:xfrm>
          <a:prstGeom prst="rect">
            <a:avLst/>
          </a:prstGeom>
          <a:noFill/>
        </p:spPr>
        <p:txBody>
          <a:bodyPr wrap="square" rtlCol="0">
            <a:spAutoFit/>
          </a:bodyPr>
          <a:lstStyle/>
          <a:p>
            <a:r>
              <a:rPr lang="en-US" sz="2400" b="1" dirty="0">
                <a:solidFill>
                  <a:schemeClr val="accent2"/>
                </a:solidFill>
                <a:latin typeface="Times New Roman" panose="02020603050405020304" pitchFamily="18" charset="0"/>
                <a:cs typeface="Times New Roman" panose="02020603050405020304" pitchFamily="18" charset="0"/>
              </a:rPr>
              <a:t>TITLE</a:t>
            </a:r>
            <a:r>
              <a:rPr lang="en-US" sz="2400" dirty="0">
                <a:solidFill>
                  <a:schemeClr val="accent2"/>
                </a:solidFill>
              </a:rPr>
              <a:t>:-</a:t>
            </a:r>
            <a:r>
              <a:rPr lang="en-US" sz="2400" dirty="0">
                <a:latin typeface="Times New Roman" panose="02020603050405020304" pitchFamily="18" charset="0"/>
                <a:cs typeface="Times New Roman" panose="02020603050405020304" pitchFamily="18" charset="0"/>
              </a:rPr>
              <a:t>REAL TIME IOT-BASED WATER QUALITY MONITORING  SYSTEM</a:t>
            </a:r>
            <a:endParaRPr lang="en-IN"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EF6199A-F6BC-C78C-A932-061B1F3FC7F7}"/>
              </a:ext>
            </a:extLst>
          </p:cNvPr>
          <p:cNvSpPr txBox="1"/>
          <p:nvPr/>
        </p:nvSpPr>
        <p:spPr>
          <a:xfrm>
            <a:off x="387633" y="2868299"/>
            <a:ext cx="8763886" cy="461665"/>
          </a:xfrm>
          <a:prstGeom prst="rect">
            <a:avLst/>
          </a:prstGeom>
          <a:noFill/>
        </p:spPr>
        <p:txBody>
          <a:bodyPr wrap="square">
            <a:spAutoFit/>
          </a:bodyPr>
          <a:lstStyle/>
          <a:p>
            <a:pPr lvl="1" algn="just" eaLnBrk="0" fontAlgn="base" hangingPunct="0">
              <a:spcBef>
                <a:spcPct val="0"/>
              </a:spcBef>
              <a:spcAft>
                <a:spcPct val="0"/>
              </a:spcAft>
            </a:pPr>
            <a:r>
              <a:rPr kumimoji="0" lang="en-US" altLang="en-US" sz="2400" b="1"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Subtitle</a:t>
            </a:r>
            <a:r>
              <a:rPr kumimoji="0" lang="en-US" altLang="en-US" sz="2400"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Safe and Clean Water</a:t>
            </a:r>
          </a:p>
        </p:txBody>
      </p:sp>
      <p:pic>
        <p:nvPicPr>
          <p:cNvPr id="12" name="Picture 1">
            <a:extLst>
              <a:ext uri="{FF2B5EF4-FFF2-40B4-BE49-F238E27FC236}">
                <a16:creationId xmlns:a16="http://schemas.microsoft.com/office/drawing/2014/main" id="{E9A739AD-79A8-E348-299A-EBF73E3F87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C0F14AC-F30B-4F52-6BAB-F1C274A04FE5}"/>
              </a:ext>
            </a:extLst>
          </p:cNvPr>
          <p:cNvSpPr txBox="1"/>
          <p:nvPr/>
        </p:nvSpPr>
        <p:spPr>
          <a:xfrm>
            <a:off x="4513229" y="431126"/>
            <a:ext cx="3143615" cy="400110"/>
          </a:xfrm>
          <a:prstGeom prst="rect">
            <a:avLst/>
          </a:prstGeom>
          <a:noFill/>
        </p:spPr>
        <p:txBody>
          <a:bodyPr wrap="square" rtlCol="0">
            <a:spAutoFit/>
          </a:bodyPr>
          <a:lstStyle/>
          <a:p>
            <a:r>
              <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INFORMATION TITLE</a:t>
            </a:r>
          </a:p>
        </p:txBody>
      </p:sp>
      <p:sp>
        <p:nvSpPr>
          <p:cNvPr id="6" name="TextBox 5">
            <a:extLst>
              <a:ext uri="{FF2B5EF4-FFF2-40B4-BE49-F238E27FC236}">
                <a16:creationId xmlns:a16="http://schemas.microsoft.com/office/drawing/2014/main" id="{95A50D2E-4F85-FDA1-2DE3-45580C1FB109}"/>
              </a:ext>
            </a:extLst>
          </p:cNvPr>
          <p:cNvSpPr txBox="1"/>
          <p:nvPr/>
        </p:nvSpPr>
        <p:spPr>
          <a:xfrm>
            <a:off x="5069372" y="928294"/>
            <a:ext cx="2053255" cy="400110"/>
          </a:xfrm>
          <a:prstGeom prst="rect">
            <a:avLst/>
          </a:prstGeom>
          <a:noFill/>
        </p:spPr>
        <p:txBody>
          <a:bodyPr wrap="square" rtlCol="0">
            <a:spAutoFit/>
          </a:bodyPr>
          <a:lstStyle/>
          <a:p>
            <a:r>
              <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PROJECT PPT</a:t>
            </a:r>
          </a:p>
        </p:txBody>
      </p:sp>
    </p:spTree>
    <p:extLst>
      <p:ext uri="{BB962C8B-B14F-4D97-AF65-F5344CB8AC3E}">
        <p14:creationId xmlns:p14="http://schemas.microsoft.com/office/powerpoint/2010/main" val="33823082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6DD5B2-8718-9F13-7542-D76FACA3E702}"/>
              </a:ext>
            </a:extLst>
          </p:cNvPr>
          <p:cNvSpPr txBox="1"/>
          <p:nvPr/>
        </p:nvSpPr>
        <p:spPr>
          <a:xfrm>
            <a:off x="723480" y="159449"/>
            <a:ext cx="10008579" cy="1077218"/>
          </a:xfrm>
          <a:prstGeom prst="rect">
            <a:avLst/>
          </a:prstGeom>
          <a:noFill/>
        </p:spPr>
        <p:txBody>
          <a:bodyPr wrap="square" rtlCol="0">
            <a:spAutoFit/>
          </a:bodyPr>
          <a:lstStyle/>
          <a:p>
            <a:pPr algn="ctr"/>
            <a:r>
              <a:rPr lang="en-US" sz="3200" b="1" dirty="0">
                <a:ln w="0"/>
                <a:solidFill>
                  <a:schemeClr val="accent2">
                    <a:lumMod val="60000"/>
                    <a:lumOff val="40000"/>
                  </a:schemeClr>
                </a:solidFill>
                <a:effectLst>
                  <a:outerShdw blurRad="38100" dist="19050" dir="2700000" algn="tl" rotWithShape="0">
                    <a:schemeClr val="dk1">
                      <a:alpha val="40000"/>
                    </a:schemeClr>
                  </a:outerShdw>
                </a:effectLst>
              </a:rPr>
              <a:t>REAL TIME IOT- BASED WATER QUALITY MONITORING  SYSTEM</a:t>
            </a:r>
            <a:endParaRPr lang="en-IN" sz="3200" b="1" dirty="0">
              <a:ln w="0"/>
              <a:solidFill>
                <a:schemeClr val="accent2">
                  <a:lumMod val="60000"/>
                  <a:lumOff val="40000"/>
                </a:schemeClr>
              </a:solidFill>
              <a:effectLst>
                <a:outerShdw blurRad="38100" dist="19050" dir="2700000" algn="tl" rotWithShape="0">
                  <a:schemeClr val="dk1">
                    <a:alpha val="40000"/>
                  </a:schemeClr>
                </a:outerShdw>
              </a:effectLst>
            </a:endParaRPr>
          </a:p>
        </p:txBody>
      </p:sp>
      <p:sp>
        <p:nvSpPr>
          <p:cNvPr id="3" name="Rectangle 2">
            <a:extLst>
              <a:ext uri="{FF2B5EF4-FFF2-40B4-BE49-F238E27FC236}">
                <a16:creationId xmlns:a16="http://schemas.microsoft.com/office/drawing/2014/main" id="{E7C680EB-CFF1-8B8B-E589-F22A7B33FC99}"/>
              </a:ext>
            </a:extLst>
          </p:cNvPr>
          <p:cNvSpPr/>
          <p:nvPr/>
        </p:nvSpPr>
        <p:spPr>
          <a:xfrm>
            <a:off x="102158" y="87678"/>
            <a:ext cx="11987683" cy="6628213"/>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7" name="TextBox 6">
            <a:extLst>
              <a:ext uri="{FF2B5EF4-FFF2-40B4-BE49-F238E27FC236}">
                <a16:creationId xmlns:a16="http://schemas.microsoft.com/office/drawing/2014/main" id="{9E7C66A9-1A16-01CC-8C3D-9F35650E63EE}"/>
              </a:ext>
            </a:extLst>
          </p:cNvPr>
          <p:cNvSpPr txBox="1"/>
          <p:nvPr/>
        </p:nvSpPr>
        <p:spPr>
          <a:xfrm>
            <a:off x="914396" y="2775089"/>
            <a:ext cx="3732032"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2.  SK. Yedulla Hussen (23495A0425)</a:t>
            </a:r>
            <a:endParaRPr lang="en-IN"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CBCCD0B-F0A2-7DD4-64B1-3C9CBEA8F1E3}"/>
              </a:ext>
            </a:extLst>
          </p:cNvPr>
          <p:cNvSpPr txBox="1"/>
          <p:nvPr/>
        </p:nvSpPr>
        <p:spPr>
          <a:xfrm>
            <a:off x="966417" y="2049372"/>
            <a:ext cx="369289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1. G. P. Gangadhar Rao (2249A04E7)</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B20A6F3-A7E8-1AFB-2F2F-F8E052517C5E}"/>
              </a:ext>
            </a:extLst>
          </p:cNvPr>
          <p:cNvSpPr txBox="1"/>
          <p:nvPr/>
        </p:nvSpPr>
        <p:spPr>
          <a:xfrm>
            <a:off x="914395" y="3466361"/>
            <a:ext cx="3796941" cy="1138773"/>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3. K. Navya Bhargavi (22491A0491)</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br>
              <a:rPr lang="en-US" dirty="0"/>
            </a:br>
            <a:endParaRPr lang="en-IN" dirty="0"/>
          </a:p>
        </p:txBody>
      </p:sp>
      <p:sp>
        <p:nvSpPr>
          <p:cNvPr id="10" name="TextBox 9">
            <a:extLst>
              <a:ext uri="{FF2B5EF4-FFF2-40B4-BE49-F238E27FC236}">
                <a16:creationId xmlns:a16="http://schemas.microsoft.com/office/drawing/2014/main" id="{0478FB20-10FC-0F76-0FBF-315DFE9C8B0B}"/>
              </a:ext>
            </a:extLst>
          </p:cNvPr>
          <p:cNvSpPr txBox="1"/>
          <p:nvPr/>
        </p:nvSpPr>
        <p:spPr>
          <a:xfrm>
            <a:off x="7113182" y="2128136"/>
            <a:ext cx="3498111"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4. V. Ajaya Reddy (22491A04C6)</a:t>
            </a:r>
            <a:endParaRPr lang="en-IN" sz="16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11B8233-96D0-B4C1-1146-4730397C6399}"/>
              </a:ext>
            </a:extLst>
          </p:cNvPr>
          <p:cNvSpPr txBox="1"/>
          <p:nvPr/>
        </p:nvSpPr>
        <p:spPr>
          <a:xfrm>
            <a:off x="7113182" y="2876577"/>
            <a:ext cx="3391786" cy="1138773"/>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5. M. Pujitha (22491A0438)</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br>
              <a:rPr lang="en-US" dirty="0"/>
            </a:br>
            <a:endParaRPr lang="en-IN" dirty="0"/>
          </a:p>
        </p:txBody>
      </p:sp>
      <p:sp>
        <p:nvSpPr>
          <p:cNvPr id="12" name="TextBox 11">
            <a:extLst>
              <a:ext uri="{FF2B5EF4-FFF2-40B4-BE49-F238E27FC236}">
                <a16:creationId xmlns:a16="http://schemas.microsoft.com/office/drawing/2014/main" id="{888D2FCE-E48D-5972-AFE9-3D59E1D6DB95}"/>
              </a:ext>
            </a:extLst>
          </p:cNvPr>
          <p:cNvSpPr txBox="1"/>
          <p:nvPr/>
        </p:nvSpPr>
        <p:spPr>
          <a:xfrm>
            <a:off x="7113181" y="3401785"/>
            <a:ext cx="4059915" cy="584775"/>
          </a:xfrm>
          <a:prstGeom prst="rect">
            <a:avLst/>
          </a:prstGeom>
          <a:noFill/>
        </p:spPr>
        <p:txBody>
          <a:bodyPr wrap="square" rtlCol="0">
            <a:spAutoFit/>
          </a:bodyPr>
          <a:lstStyle/>
          <a:p>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6. M. Venkata Ajay kumar (22491A04G8)</a:t>
            </a:r>
            <a:endParaRPr lang="en-IN" sz="16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1E98AEF8-51F1-5614-6F43-518EFDD2C051}"/>
              </a:ext>
            </a:extLst>
          </p:cNvPr>
          <p:cNvSpPr txBox="1"/>
          <p:nvPr/>
        </p:nvSpPr>
        <p:spPr>
          <a:xfrm>
            <a:off x="9058940" y="584791"/>
            <a:ext cx="2328530" cy="369332"/>
          </a:xfrm>
          <a:prstGeom prst="rect">
            <a:avLst/>
          </a:prstGeom>
          <a:noFill/>
        </p:spPr>
        <p:txBody>
          <a:bodyPr wrap="square" rtlCol="0">
            <a:spAutoFit/>
          </a:bodyPr>
          <a:lstStyle/>
          <a:p>
            <a:endParaRPr lang="en-IN" dirty="0"/>
          </a:p>
        </p:txBody>
      </p:sp>
      <p:sp>
        <p:nvSpPr>
          <p:cNvPr id="19" name="TextBox 18">
            <a:extLst>
              <a:ext uri="{FF2B5EF4-FFF2-40B4-BE49-F238E27FC236}">
                <a16:creationId xmlns:a16="http://schemas.microsoft.com/office/drawing/2014/main" id="{0158F327-52D4-A306-F9B2-DF994A064CA0}"/>
              </a:ext>
            </a:extLst>
          </p:cNvPr>
          <p:cNvSpPr txBox="1"/>
          <p:nvPr/>
        </p:nvSpPr>
        <p:spPr>
          <a:xfrm>
            <a:off x="914396" y="4561367"/>
            <a:ext cx="5600704" cy="400110"/>
          </a:xfrm>
          <a:prstGeom prst="rect">
            <a:avLst/>
          </a:prstGeom>
          <a:noFill/>
        </p:spPr>
        <p:txBody>
          <a:bodyPr wrap="square" rtlCol="0">
            <a:spAutoFit/>
          </a:bodyPr>
          <a:lstStyle/>
          <a:p>
            <a:pPr algn="ctr"/>
            <a:r>
              <a:rPr lang="en-US" sz="2000" b="1" dirty="0">
                <a:solidFill>
                  <a:schemeClr val="accent2"/>
                </a:solidFill>
                <a:latin typeface="Times New Roman" panose="02020603050405020304" pitchFamily="18" charset="0"/>
                <a:cs typeface="Times New Roman" panose="02020603050405020304" pitchFamily="18" charset="0"/>
              </a:rPr>
              <a:t>UNDER THE GUIDENCES OF:-</a:t>
            </a: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 Subbarao sir</a:t>
            </a:r>
            <a:endParaRPr lang="en-IN" sz="20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BC19A2DE-DB23-3519-5199-45A71C99CC77}"/>
              </a:ext>
            </a:extLst>
          </p:cNvPr>
          <p:cNvSpPr txBox="1"/>
          <p:nvPr/>
        </p:nvSpPr>
        <p:spPr>
          <a:xfrm>
            <a:off x="839972" y="5055507"/>
            <a:ext cx="7969103" cy="400110"/>
          </a:xfrm>
          <a:prstGeom prst="rect">
            <a:avLst/>
          </a:prstGeom>
          <a:noFill/>
        </p:spPr>
        <p:txBody>
          <a:bodyPr wrap="square" rtlCol="0">
            <a:spAutoFit/>
          </a:bodyPr>
          <a:lstStyle/>
          <a:p>
            <a:pPr algn="ctr"/>
            <a:r>
              <a:rPr lang="en-US" sz="2000" b="1" dirty="0">
                <a:solidFill>
                  <a:schemeClr val="accent2"/>
                </a:solidFill>
                <a:latin typeface="Times New Roman" panose="02020603050405020304" pitchFamily="18" charset="0"/>
                <a:cs typeface="Times New Roman" panose="02020603050405020304" pitchFamily="18" charset="0"/>
              </a:rPr>
              <a:t>DEPARTMENT</a:t>
            </a:r>
            <a:r>
              <a:rPr lang="en-US" sz="1600" dirty="0">
                <a:solidFill>
                  <a:schemeClr val="accent2"/>
                </a:solidFill>
                <a:latin typeface="Times New Roman" panose="02020603050405020304" pitchFamily="18" charset="0"/>
                <a:cs typeface="Times New Roman" panose="02020603050405020304" pitchFamily="18" charset="0"/>
              </a:rPr>
              <a:t> </a:t>
            </a:r>
            <a:r>
              <a:rPr lang="en-US" sz="2000" b="1" dirty="0">
                <a:solidFill>
                  <a:schemeClr val="accent2"/>
                </a:solidFill>
                <a:latin typeface="Times New Roman" panose="02020603050405020304" pitchFamily="18" charset="0"/>
                <a:cs typeface="Times New Roman" panose="02020603050405020304" pitchFamily="18" charset="0"/>
              </a:rPr>
              <a:t>OF:-</a:t>
            </a:r>
            <a:r>
              <a:rPr lang="en-US" sz="1600" dirty="0">
                <a:latin typeface="Times New Roman" panose="02020603050405020304" pitchFamily="18" charset="0"/>
                <a:cs typeface="Times New Roman" panose="02020603050405020304" pitchFamily="18" charset="0"/>
              </a:rPr>
              <a:t>ELECTRONICS AND COMMUNICATION ENGINEERING</a:t>
            </a:r>
            <a:endParaRPr lang="en-IN" sz="1600" dirty="0">
              <a:latin typeface="Times New Roman" panose="02020603050405020304" pitchFamily="18" charset="0"/>
              <a:cs typeface="Times New Roman" panose="02020603050405020304" pitchFamily="18" charset="0"/>
            </a:endParaRPr>
          </a:p>
        </p:txBody>
      </p:sp>
      <p:pic>
        <p:nvPicPr>
          <p:cNvPr id="23" name="Picture 1">
            <a:extLst>
              <a:ext uri="{FF2B5EF4-FFF2-40B4-BE49-F238E27FC236}">
                <a16:creationId xmlns:a16="http://schemas.microsoft.com/office/drawing/2014/main" id="{D25AF3FE-29DF-392C-5966-DC6C59157D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62009BB4-E84F-C33F-1167-D8C5448432BA}"/>
              </a:ext>
            </a:extLst>
          </p:cNvPr>
          <p:cNvSpPr txBox="1"/>
          <p:nvPr/>
        </p:nvSpPr>
        <p:spPr>
          <a:xfrm>
            <a:off x="1076949" y="1330697"/>
            <a:ext cx="1927508" cy="400110"/>
          </a:xfrm>
          <a:prstGeom prst="rect">
            <a:avLst/>
          </a:prstGeom>
          <a:noFill/>
        </p:spPr>
        <p:txBody>
          <a:bodyPr wrap="square" rtlCol="0">
            <a:spAutoFit/>
          </a:bodyPr>
          <a:lstStyle/>
          <a:p>
            <a:r>
              <a:rPr lang="en-US" sz="2000" b="1" dirty="0">
                <a:solidFill>
                  <a:schemeClr val="accent2"/>
                </a:solidFill>
                <a:latin typeface="Times New Roman" panose="02020603050405020304" pitchFamily="18" charset="0"/>
                <a:cs typeface="Times New Roman" panose="02020603050405020304" pitchFamily="18" charset="0"/>
              </a:rPr>
              <a:t>Presented by:-</a:t>
            </a:r>
            <a:endParaRPr lang="en-IN" sz="2000"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70692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1F426D-DBF7-6330-A9B2-EFE682F82E1B}"/>
              </a:ext>
            </a:extLst>
          </p:cNvPr>
          <p:cNvSpPr txBox="1"/>
          <p:nvPr/>
        </p:nvSpPr>
        <p:spPr>
          <a:xfrm>
            <a:off x="1690577" y="1180214"/>
            <a:ext cx="6666614" cy="5221942"/>
          </a:xfrm>
          <a:prstGeom prst="rect">
            <a:avLst/>
          </a:prstGeom>
          <a:noFill/>
        </p:spPr>
        <p:txBody>
          <a:bodyPr wrap="square">
            <a:spAutoFit/>
          </a:bodyPr>
          <a:lstStyle/>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Abstract</a:t>
            </a:r>
          </a:p>
          <a:p>
            <a:pPr indent="-108000"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      Introduction</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Literature review</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Motivation</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Objective</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Existing Method</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Proposed Method</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Hardware &amp; Software involved</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Advantages &amp; Applications </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System Architecture </a:t>
            </a:r>
            <a:r>
              <a:rPr lang="en-IN" sz="1600" b="1" dirty="0">
                <a:latin typeface="Times New Roman" panose="02020603050405020304" pitchFamily="18" charset="0"/>
                <a:ea typeface="Microsoft Sans Serif" panose="020B0604020202020204" pitchFamily="34" charset="0"/>
                <a:cs typeface="Times New Roman" panose="02020603050405020304" pitchFamily="18" charset="0"/>
              </a:rPr>
              <a:t>/</a:t>
            </a: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proposed Work Block Diagram</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Implementation</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Testing/Simulation</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Results &amp; Discussions</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Conclusions &amp; </a:t>
            </a:r>
            <a:r>
              <a:rPr lang="en-IN" sz="1600" dirty="0" err="1">
                <a:latin typeface="Times New Roman" panose="02020603050405020304" pitchFamily="18" charset="0"/>
                <a:ea typeface="Microsoft Sans Serif" panose="020B0604020202020204" pitchFamily="34" charset="0"/>
                <a:cs typeface="Times New Roman" panose="02020603050405020304" pitchFamily="18" charset="0"/>
              </a:rPr>
              <a:t>Fucture</a:t>
            </a: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 Scope</a:t>
            </a:r>
          </a:p>
          <a:p>
            <a:pPr marL="274320" indent="-457063" eaLnBrk="1" fontAlgn="auto" hangingPunct="1">
              <a:spcBef>
                <a:spcPts val="400"/>
              </a:spcBef>
              <a:spcAft>
                <a:spcPts val="400"/>
              </a:spcAft>
              <a:buFont typeface="Wingdings" panose="05000000000000000000" pitchFamily="2" charset="2"/>
              <a:buChar char="q"/>
              <a:defRPr/>
            </a:pPr>
            <a:r>
              <a:rPr lang="en-IN" sz="1600" dirty="0">
                <a:latin typeface="Times New Roman" panose="02020603050405020304" pitchFamily="18" charset="0"/>
                <a:ea typeface="Microsoft Sans Serif" panose="020B0604020202020204" pitchFamily="34"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743CEFC1-9049-8E71-DE71-4D3C756810FE}"/>
              </a:ext>
            </a:extLst>
          </p:cNvPr>
          <p:cNvSpPr txBox="1"/>
          <p:nvPr/>
        </p:nvSpPr>
        <p:spPr>
          <a:xfrm>
            <a:off x="1690577" y="517712"/>
            <a:ext cx="1658679" cy="461665"/>
          </a:xfrm>
          <a:prstGeom prst="rect">
            <a:avLst/>
          </a:prstGeom>
          <a:noFill/>
        </p:spPr>
        <p:txBody>
          <a:bodyPr wrap="square" rtlCol="0">
            <a:spAutoFit/>
          </a:bodyPr>
          <a:lstStyle/>
          <a:p>
            <a:r>
              <a:rPr lang="en-IN" sz="24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OUTLINE</a:t>
            </a:r>
            <a:endPar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A2EF5C3-8509-881D-E18D-A94446C65F02}"/>
              </a:ext>
            </a:extLst>
          </p:cNvPr>
          <p:cNvSpPr/>
          <p:nvPr/>
        </p:nvSpPr>
        <p:spPr>
          <a:xfrm>
            <a:off x="142350" y="59714"/>
            <a:ext cx="11925719" cy="6639536"/>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1">
            <a:extLst>
              <a:ext uri="{FF2B5EF4-FFF2-40B4-BE49-F238E27FC236}">
                <a16:creationId xmlns:a16="http://schemas.microsoft.com/office/drawing/2014/main" id="{C1886985-4342-7DA0-D318-65D205F520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19954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194614-ED84-8E2E-3A83-77F199E2317F}"/>
              </a:ext>
            </a:extLst>
          </p:cNvPr>
          <p:cNvSpPr/>
          <p:nvPr/>
        </p:nvSpPr>
        <p:spPr>
          <a:xfrm>
            <a:off x="152400" y="147724"/>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6A4A6D6E-ED31-0852-F4F9-6FD01CC82C52}"/>
              </a:ext>
            </a:extLst>
          </p:cNvPr>
          <p:cNvSpPr txBox="1"/>
          <p:nvPr/>
        </p:nvSpPr>
        <p:spPr>
          <a:xfrm>
            <a:off x="4226073" y="730103"/>
            <a:ext cx="2878112" cy="400110"/>
          </a:xfrm>
          <a:prstGeom prst="rect">
            <a:avLst/>
          </a:prstGeom>
          <a:noFill/>
        </p:spPr>
        <p:txBody>
          <a:bodyPr wrap="square" rtlCol="0">
            <a:spAutoFit/>
          </a:bodyPr>
          <a:lstStyle/>
          <a:p>
            <a:pPr algn="ctr"/>
            <a:r>
              <a:rPr lang="en-US"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ABSTRACT</a:t>
            </a:r>
            <a:endPar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C7226C2-128C-C9F3-082E-8C70907FBE85}"/>
              </a:ext>
            </a:extLst>
          </p:cNvPr>
          <p:cNvSpPr txBox="1"/>
          <p:nvPr/>
        </p:nvSpPr>
        <p:spPr>
          <a:xfrm>
            <a:off x="1297947" y="1663586"/>
            <a:ext cx="9622466" cy="3293209"/>
          </a:xfrm>
          <a:prstGeom prst="rect">
            <a:avLst/>
          </a:prstGeom>
          <a:noFill/>
        </p:spPr>
        <p:txBody>
          <a:bodyPr wrap="square" rtlCol="0">
            <a:spAutoFit/>
          </a:bodyPr>
          <a:lstStyle/>
          <a:p>
            <a:pPr marL="285750" indent="-285750" algn="just">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The main objective of this real time </a:t>
            </a:r>
            <a:r>
              <a:rPr lang="en-US" sz="1600" dirty="0">
                <a:latin typeface="Times New Roman" panose="02020603050405020304" pitchFamily="18" charset="0"/>
                <a:cs typeface="Times New Roman" panose="02020603050405020304" pitchFamily="18" charset="0"/>
              </a:rPr>
              <a:t>IOT </a:t>
            </a:r>
            <a:r>
              <a:rPr lang="en-US" sz="1600" b="0" i="0" dirty="0">
                <a:effectLst/>
                <a:latin typeface="Times New Roman" panose="02020603050405020304" pitchFamily="18" charset="0"/>
                <a:cs typeface="Times New Roman" panose="02020603050405020304" pitchFamily="18" charset="0"/>
              </a:rPr>
              <a:t>based  water quality monitoring system using internet of things is to find the quality of the water  i.e. how the  pH content  varies and  sending  message  to the  corresponding authorities</a:t>
            </a:r>
            <a:endParaRPr lang="en-US" sz="1600" b="0" i="0" dirty="0">
              <a:effectLst/>
              <a:highlight>
                <a:srgbClr val="FFFFFF"/>
              </a:highligh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600" dirty="0">
              <a:solidFill>
                <a:srgbClr val="1F1F1F"/>
              </a:solidFill>
              <a:highlight>
                <a:srgbClr val="FFFFFF"/>
              </a:highligh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These project  Real Time IoT-based water quality monitoring system is used to designed. To continuously assess the safety and purity of water in real-time. The system uses sensors to measure critical parameters like pH, temperature, and total dissolved solids. These sensors are connected to an IoT platform, which collects and transmits the data to a cloud server for analysis. Alerts are generated if any parameter exceeds safe levels, ensuring timely intervention to prevent health hazards.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is cost-effective, scalable, and can be deployed in various settings, such as drinking water supplies, rivers, or industrial waste management, making it an essential tool for maintaining water quality and public health</a:t>
            </a:r>
            <a:r>
              <a:rPr lang="en-US" sz="1600" dirty="0"/>
              <a:t>.</a:t>
            </a:r>
            <a:endParaRPr lang="en-US" sz="1600" dirty="0">
              <a:solidFill>
                <a:srgbClr val="333333"/>
              </a:solidFill>
              <a:highlight>
                <a:srgbClr val="FFFFFF"/>
              </a:highlight>
              <a:latin typeface="HelveticaNeue Regular"/>
            </a:endParaRPr>
          </a:p>
        </p:txBody>
      </p:sp>
      <p:pic>
        <p:nvPicPr>
          <p:cNvPr id="3" name="Picture 1">
            <a:extLst>
              <a:ext uri="{FF2B5EF4-FFF2-40B4-BE49-F238E27FC236}">
                <a16:creationId xmlns:a16="http://schemas.microsoft.com/office/drawing/2014/main" id="{C8E2C155-2230-974A-4F9C-48B793E814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292013"/>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33615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2BA7FE0-7A07-296B-4987-0016DEA5AFDD}"/>
              </a:ext>
            </a:extLst>
          </p:cNvPr>
          <p:cNvSpPr/>
          <p:nvPr/>
        </p:nvSpPr>
        <p:spPr>
          <a:xfrm>
            <a:off x="152400" y="153237"/>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itle 1">
            <a:extLst>
              <a:ext uri="{FF2B5EF4-FFF2-40B4-BE49-F238E27FC236}">
                <a16:creationId xmlns:a16="http://schemas.microsoft.com/office/drawing/2014/main" id="{B0AA8E38-3DD0-02D2-B958-DFA85976448B}"/>
              </a:ext>
            </a:extLst>
          </p:cNvPr>
          <p:cNvSpPr>
            <a:spLocks noGrp="1"/>
          </p:cNvSpPr>
          <p:nvPr>
            <p:ph type="title"/>
          </p:nvPr>
        </p:nvSpPr>
        <p:spPr>
          <a:xfrm>
            <a:off x="4509653" y="401970"/>
            <a:ext cx="2296391" cy="838200"/>
          </a:xfrm>
        </p:spPr>
        <p:txBody>
          <a:bodyPr>
            <a:normAutofit/>
          </a:bodyPr>
          <a:lstStyle/>
          <a:p>
            <a:pPr algn="ctr"/>
            <a:r>
              <a:rPr lang="en-US" sz="2000" b="1" dirty="0">
                <a:ln w="0"/>
                <a:solidFill>
                  <a:schemeClr val="accent2">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lang="en-IN" sz="2000" b="1" dirty="0">
              <a:ln w="0"/>
              <a:solidFill>
                <a:schemeClr val="accent2">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338276CB-0038-1350-1FA7-9378DA2E0E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236" y="246523"/>
            <a:ext cx="818206" cy="69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B1AFCFD7-9791-082B-A37E-008898BB45A4}"/>
              </a:ext>
            </a:extLst>
          </p:cNvPr>
          <p:cNvSpPr txBox="1"/>
          <p:nvPr/>
        </p:nvSpPr>
        <p:spPr>
          <a:xfrm>
            <a:off x="1104913" y="1619091"/>
            <a:ext cx="10183140" cy="3785652"/>
          </a:xfrm>
          <a:prstGeom prst="rect">
            <a:avLst/>
          </a:prstGeom>
          <a:noFill/>
        </p:spPr>
        <p:txBody>
          <a:bodyPr wrap="square" rtlCol="0">
            <a:spAutoFit/>
          </a:bodyPr>
          <a:lstStyle/>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An IoT-based water quality monitoring system is a smart technology designed to keep  the health and safety of water in various environments. Water is vital for life, and ensuring its quality is crucial for human health, agriculture, and industry. Traditionally, water quality testing has been done manually, which can be time-consuming and may not provide real-time information. This is where IoT (Internet of Things) comes in, offering a more efficient and reliable solution.</a:t>
            </a: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In an IoT-based system, a network of sensors is placed in water sources like rivers, lakes . These sensors continuously measure important water quality parameters such as pH, temperature, turbidity (how clear the water is), and levels of dissolved oxygen or harmful chemicals. The data collected by the sensors is sent in real-time to a central server through the internet. The collected data can be analyzed instantly, and if any parameter goes beyond safe limits, the system can send alerts to authorities or maintenance teams, enabling quick action to address potential issues.</a:t>
            </a: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This technology is not only cost-effective and easy to deploy but also scalable, meaning it can be used for small-scale applications like household water tanks . Ultimately, an IoT-based water quality monitoring system ensures that clean and safe water is available, protecting both the environment and public health.</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16813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1BCF200-E765-263A-B029-75D5F7CA7704}"/>
              </a:ext>
            </a:extLst>
          </p:cNvPr>
          <p:cNvSpPr/>
          <p:nvPr/>
        </p:nvSpPr>
        <p:spPr>
          <a:xfrm>
            <a:off x="152400" y="101686"/>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7" name="Title 6">
            <a:extLst>
              <a:ext uri="{FF2B5EF4-FFF2-40B4-BE49-F238E27FC236}">
                <a16:creationId xmlns:a16="http://schemas.microsoft.com/office/drawing/2014/main" id="{E5BA0C3D-89CA-586E-EA9C-160147C9E5BB}"/>
              </a:ext>
            </a:extLst>
          </p:cNvPr>
          <p:cNvSpPr>
            <a:spLocks noGrp="1"/>
          </p:cNvSpPr>
          <p:nvPr>
            <p:ph type="title"/>
          </p:nvPr>
        </p:nvSpPr>
        <p:spPr>
          <a:xfrm>
            <a:off x="4451420" y="204788"/>
            <a:ext cx="4159180" cy="838200"/>
          </a:xfrm>
        </p:spPr>
        <p:txBody>
          <a:bodyPr>
            <a:normAutofit/>
          </a:bodyPr>
          <a:lstStyle/>
          <a:p>
            <a:pPr algn="ctr" eaLnBrk="1" fontAlgn="auto" hangingPunct="1">
              <a:spcAft>
                <a:spcPts val="0"/>
              </a:spcAft>
              <a:defRPr/>
            </a:pPr>
            <a:r>
              <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ea typeface="Microsoft Sans Serif" panose="020B0604020202020204" pitchFamily="34" charset="0"/>
                <a:cs typeface="Times New Roman" panose="02020603050405020304" pitchFamily="18" charset="0"/>
              </a:rPr>
              <a:t>LITERATURE SURVEY</a:t>
            </a:r>
          </a:p>
        </p:txBody>
      </p:sp>
      <p:sp>
        <p:nvSpPr>
          <p:cNvPr id="4" name="Slide Number Placeholder 3">
            <a:extLst>
              <a:ext uri="{FF2B5EF4-FFF2-40B4-BE49-F238E27FC236}">
                <a16:creationId xmlns:a16="http://schemas.microsoft.com/office/drawing/2014/main" id="{50AF0652-280F-CBCA-84B7-4C559D9105DC}"/>
              </a:ext>
            </a:extLst>
          </p:cNvPr>
          <p:cNvSpPr>
            <a:spLocks noGrp="1"/>
          </p:cNvSpPr>
          <p:nvPr>
            <p:ph type="sldNum" sz="quarter" idx="12"/>
          </p:nvPr>
        </p:nvSpPr>
        <p:spPr/>
        <p:txBody>
          <a:bodyPr/>
          <a:lstStyle>
            <a:lvl1pPr>
              <a:defRPr>
                <a:solidFill>
                  <a:schemeClr val="tx1"/>
                </a:solidFill>
                <a:latin typeface="Palatino Linotype" panose="02040502050505030304" pitchFamily="18" charset="0"/>
              </a:defRPr>
            </a:lvl1pPr>
            <a:lvl2pPr marL="742950" indent="-285750">
              <a:defRPr>
                <a:solidFill>
                  <a:schemeClr val="tx1"/>
                </a:solidFill>
                <a:latin typeface="Palatino Linotype" panose="02040502050505030304" pitchFamily="18" charset="0"/>
              </a:defRPr>
            </a:lvl2pPr>
            <a:lvl3pPr marL="1143000" indent="-228600">
              <a:defRPr>
                <a:solidFill>
                  <a:schemeClr val="tx1"/>
                </a:solidFill>
                <a:latin typeface="Palatino Linotype" panose="02040502050505030304" pitchFamily="18" charset="0"/>
              </a:defRPr>
            </a:lvl3pPr>
            <a:lvl4pPr marL="1600200" indent="-228600">
              <a:defRPr>
                <a:solidFill>
                  <a:schemeClr val="tx1"/>
                </a:solidFill>
                <a:latin typeface="Palatino Linotype" panose="02040502050505030304" pitchFamily="18" charset="0"/>
              </a:defRPr>
            </a:lvl4pPr>
            <a:lvl5pPr marL="2057400" indent="-228600">
              <a:defRPr>
                <a:solidFill>
                  <a:schemeClr val="tx1"/>
                </a:solidFill>
                <a:latin typeface="Palatino Linotype" panose="02040502050505030304" pitchFamily="18"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defRPr>
            </a:lvl9pPr>
          </a:lstStyle>
          <a:p>
            <a:pPr>
              <a:defRPr/>
            </a:pPr>
            <a:fld id="{48515B8D-5BA8-4601-83C3-69A8D45B1BAA}" type="slidenum">
              <a:rPr lang="en-US" altLang="en-US" smtClean="0">
                <a:solidFill>
                  <a:schemeClr val="bg1"/>
                </a:solidFill>
                <a:latin typeface="Century Gothic" panose="020B0502020202020204" pitchFamily="34" charset="0"/>
              </a:rPr>
              <a:pPr>
                <a:defRPr/>
              </a:pPr>
              <a:t>6</a:t>
            </a:fld>
            <a:endParaRPr lang="en-US" altLang="en-US">
              <a:solidFill>
                <a:schemeClr val="bg1"/>
              </a:solidFill>
              <a:latin typeface="Century Gothic" panose="020B0502020202020204" pitchFamily="34" charset="0"/>
            </a:endParaRPr>
          </a:p>
        </p:txBody>
      </p:sp>
      <p:sp>
        <p:nvSpPr>
          <p:cNvPr id="10" name="Content Placeholder 2">
            <a:extLst>
              <a:ext uri="{FF2B5EF4-FFF2-40B4-BE49-F238E27FC236}">
                <a16:creationId xmlns:a16="http://schemas.microsoft.com/office/drawing/2014/main" id="{88979159-5EEF-29D2-7243-2DD84006B5DD}"/>
              </a:ext>
            </a:extLst>
          </p:cNvPr>
          <p:cNvSpPr txBox="1">
            <a:spLocks/>
          </p:cNvSpPr>
          <p:nvPr/>
        </p:nvSpPr>
        <p:spPr>
          <a:xfrm>
            <a:off x="329609" y="1447800"/>
            <a:ext cx="11252791" cy="5410200"/>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indent="-457200" fontAlgn="auto">
              <a:spcAft>
                <a:spcPts val="0"/>
              </a:spcAft>
              <a:buFont typeface="Wingdings" panose="05000000000000000000" pitchFamily="2" charset="2"/>
              <a:buChar char="q"/>
              <a:defRPr/>
            </a:pPr>
            <a:endParaRPr lang="en-IN"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a:p>
            <a:pPr marL="0" indent="0" fontAlgn="auto">
              <a:spcAft>
                <a:spcPts val="0"/>
              </a:spcAft>
              <a:buNone/>
              <a:defRPr/>
            </a:pPr>
            <a:endParaRPr lang="en-IN" sz="1800"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3E44AFFA-92D2-D430-C99E-BC77DD1F325F}"/>
              </a:ext>
            </a:extLst>
          </p:cNvPr>
          <p:cNvGraphicFramePr>
            <a:graphicFrameLocks noGrp="1"/>
          </p:cNvGraphicFramePr>
          <p:nvPr>
            <p:extLst>
              <p:ext uri="{D42A27DB-BD31-4B8C-83A1-F6EECF244321}">
                <p14:modId xmlns:p14="http://schemas.microsoft.com/office/powerpoint/2010/main" val="846957502"/>
              </p:ext>
            </p:extLst>
          </p:nvPr>
        </p:nvGraphicFramePr>
        <p:xfrm>
          <a:off x="557213" y="1193663"/>
          <a:ext cx="11230889" cy="5162687"/>
        </p:xfrm>
        <a:graphic>
          <a:graphicData uri="http://schemas.openxmlformats.org/drawingml/2006/table">
            <a:tbl>
              <a:tblPr>
                <a:tableStyleId>{5940675A-B579-460E-94D1-54222C63F5DA}</a:tableStyleId>
              </a:tblPr>
              <a:tblGrid>
                <a:gridCol w="819402">
                  <a:extLst>
                    <a:ext uri="{9D8B030D-6E8A-4147-A177-3AD203B41FA5}">
                      <a16:colId xmlns:a16="http://schemas.microsoft.com/office/drawing/2014/main" val="20000"/>
                    </a:ext>
                  </a:extLst>
                </a:gridCol>
                <a:gridCol w="4164326">
                  <a:extLst>
                    <a:ext uri="{9D8B030D-6E8A-4147-A177-3AD203B41FA5}">
                      <a16:colId xmlns:a16="http://schemas.microsoft.com/office/drawing/2014/main" val="20001"/>
                    </a:ext>
                  </a:extLst>
                </a:gridCol>
                <a:gridCol w="1751849">
                  <a:extLst>
                    <a:ext uri="{9D8B030D-6E8A-4147-A177-3AD203B41FA5}">
                      <a16:colId xmlns:a16="http://schemas.microsoft.com/office/drawing/2014/main" val="20002"/>
                    </a:ext>
                  </a:extLst>
                </a:gridCol>
                <a:gridCol w="1715798">
                  <a:extLst>
                    <a:ext uri="{9D8B030D-6E8A-4147-A177-3AD203B41FA5}">
                      <a16:colId xmlns:a16="http://schemas.microsoft.com/office/drawing/2014/main" val="20003"/>
                    </a:ext>
                  </a:extLst>
                </a:gridCol>
                <a:gridCol w="2779514">
                  <a:extLst>
                    <a:ext uri="{9D8B030D-6E8A-4147-A177-3AD203B41FA5}">
                      <a16:colId xmlns:a16="http://schemas.microsoft.com/office/drawing/2014/main" val="20004"/>
                    </a:ext>
                  </a:extLst>
                </a:gridCol>
              </a:tblGrid>
              <a:tr h="571860">
                <a:tc>
                  <a:txBody>
                    <a:bodyPr/>
                    <a:lstStyle/>
                    <a:p>
                      <a:pPr algn="r" fontAlgn="ctr"/>
                      <a:r>
                        <a:rPr lang="en-IN" sz="2000" u="none" strike="noStrike" dirty="0">
                          <a:solidFill>
                            <a:schemeClr val="tx1"/>
                          </a:solidFill>
                          <a:effectLst/>
                        </a:rPr>
                        <a:t>Ref. No</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2000" u="none" strike="noStrike" dirty="0">
                          <a:solidFill>
                            <a:schemeClr val="tx1"/>
                          </a:solidFill>
                          <a:effectLst/>
                        </a:rPr>
                        <a:t>Title &amp; Author</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2000" u="none" strike="noStrike" dirty="0">
                          <a:solidFill>
                            <a:schemeClr val="tx1"/>
                          </a:solidFill>
                          <a:effectLst/>
                        </a:rPr>
                        <a:t>Technique Used</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2000" u="none" strike="noStrike" dirty="0">
                          <a:solidFill>
                            <a:schemeClr val="tx1"/>
                          </a:solidFill>
                          <a:effectLst/>
                        </a:rPr>
                        <a:t>Pros</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2000" u="none" strike="noStrike" dirty="0">
                          <a:solidFill>
                            <a:schemeClr val="tx1"/>
                          </a:solidFill>
                          <a:effectLst/>
                        </a:rPr>
                        <a:t>Cons</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extLst>
                  <a:ext uri="{0D108BD9-81ED-4DB2-BD59-A6C34878D82A}">
                    <a16:rowId xmlns:a16="http://schemas.microsoft.com/office/drawing/2014/main" val="10000"/>
                  </a:ext>
                </a:extLst>
              </a:tr>
              <a:tr h="1022674">
                <a:tc>
                  <a:txBody>
                    <a:bodyPr/>
                    <a:lstStyle/>
                    <a:p>
                      <a:pPr algn="ctr" fontAlgn="ctr"/>
                      <a:r>
                        <a:rPr lang="en-US" sz="2000" b="0" u="none" strike="noStrike" dirty="0">
                          <a:solidFill>
                            <a:schemeClr val="tx1"/>
                          </a:solidFill>
                          <a:effectLst/>
                        </a:rPr>
                        <a:t>1</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IOT Based Water Quality Monitoring System </a:t>
                      </a:r>
                    </a:p>
                    <a:p>
                      <a:pPr algn="ctr" fontAlgn="ctr"/>
                      <a:r>
                        <a:rPr lang="en-IN" sz="1600" b="0" u="none" strike="noStrike" dirty="0">
                          <a:solidFill>
                            <a:schemeClr val="tx1"/>
                          </a:solidFill>
                          <a:effectLst/>
                        </a:rPr>
                        <a:t>&amp;</a:t>
                      </a:r>
                    </a:p>
                    <a:p>
                      <a:pPr algn="ctr" fontAlgn="ctr"/>
                      <a:r>
                        <a:rPr lang="en-IN" sz="1600" b="0" u="none" strike="noStrike" dirty="0" err="1">
                          <a:solidFill>
                            <a:schemeClr val="tx1"/>
                          </a:solidFill>
                          <a:effectLst/>
                        </a:rPr>
                        <a:t>Sooryansh</a:t>
                      </a:r>
                      <a:r>
                        <a:rPr lang="en-IN" sz="1600" b="0" u="none" strike="noStrike" dirty="0">
                          <a:solidFill>
                            <a:schemeClr val="tx1"/>
                          </a:solidFill>
                          <a:effectLst/>
                        </a:rPr>
                        <a:t> Singh, Avinash Kumar</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IOT, Zigbee, Cloud Computing, Python</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marL="0" indent="0" algn="ctr" fontAlgn="ctr">
                        <a:buFont typeface="+mj-lt"/>
                        <a:buNone/>
                      </a:pPr>
                      <a:r>
                        <a:rPr lang="en-IN" sz="1600" u="none" strike="noStrike" dirty="0">
                          <a:solidFill>
                            <a:schemeClr val="tx1"/>
                          </a:solidFill>
                          <a:effectLst/>
                        </a:rPr>
                        <a:t>Low cost ,</a:t>
                      </a:r>
                    </a:p>
                    <a:p>
                      <a:pPr marL="0" marR="0" lvl="0" indent="0" algn="ctr" defTabSz="914400" rtl="0" eaLnBrk="1" fontAlgn="ctr" latinLnBrk="0" hangingPunct="1">
                        <a:lnSpc>
                          <a:spcPct val="100000"/>
                        </a:lnSpc>
                        <a:spcBef>
                          <a:spcPts val="0"/>
                        </a:spcBef>
                        <a:spcAft>
                          <a:spcPts val="0"/>
                        </a:spcAft>
                        <a:buClrTx/>
                        <a:buSzTx/>
                        <a:buFont typeface="+mj-lt"/>
                        <a:buNone/>
                        <a:tabLst/>
                        <a:defRPr/>
                      </a:pPr>
                      <a:r>
                        <a:rPr lang="en-IN" sz="1600" u="none" strike="noStrike" dirty="0">
                          <a:solidFill>
                            <a:schemeClr val="tx1"/>
                          </a:solidFill>
                          <a:effectLst/>
                        </a:rPr>
                        <a:t>prevent Diseases , easily installed</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Security Risks , </a:t>
                      </a:r>
                      <a:r>
                        <a:rPr lang="en-IN" sz="1600" u="none" strike="noStrike" dirty="0" err="1">
                          <a:solidFill>
                            <a:schemeClr val="tx1"/>
                          </a:solidFill>
                          <a:effectLst/>
                        </a:rPr>
                        <a:t>limted</a:t>
                      </a:r>
                      <a:r>
                        <a:rPr lang="en-IN" sz="1600" u="none" strike="noStrike" dirty="0">
                          <a:solidFill>
                            <a:schemeClr val="tx1"/>
                          </a:solidFill>
                          <a:effectLst/>
                        </a:rPr>
                        <a:t> Coverage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extLst>
                  <a:ext uri="{0D108BD9-81ED-4DB2-BD59-A6C34878D82A}">
                    <a16:rowId xmlns:a16="http://schemas.microsoft.com/office/drawing/2014/main" val="10001"/>
                  </a:ext>
                </a:extLst>
              </a:tr>
              <a:tr h="1010024">
                <a:tc>
                  <a:txBody>
                    <a:bodyPr/>
                    <a:lstStyle/>
                    <a:p>
                      <a:pPr algn="ctr" fontAlgn="ctr"/>
                      <a:r>
                        <a:rPr lang="en-US" sz="2000" b="0" u="none" strike="noStrike" dirty="0">
                          <a:solidFill>
                            <a:schemeClr val="tx1"/>
                          </a:solidFill>
                          <a:effectLst/>
                        </a:rPr>
                        <a:t>2</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Real Time IOT based Water Quality Management System &amp;</a:t>
                      </a:r>
                    </a:p>
                    <a:p>
                      <a:pPr algn="ctr" fontAlgn="ctr"/>
                      <a:r>
                        <a:rPr lang="en-IN" sz="1600" b="0" u="none" strike="noStrike" dirty="0">
                          <a:solidFill>
                            <a:schemeClr val="tx1"/>
                          </a:solidFill>
                          <a:effectLst/>
                        </a:rPr>
                        <a:t>Mohammad Salah Uddin Chowdary, </a:t>
                      </a:r>
                      <a:r>
                        <a:rPr lang="en-IN" sz="1600" b="0" u="none" strike="noStrike" dirty="0" err="1">
                          <a:solidFill>
                            <a:schemeClr val="tx1"/>
                          </a:solidFill>
                          <a:effectLst/>
                        </a:rPr>
                        <a:t>Tallha</a:t>
                      </a:r>
                      <a:r>
                        <a:rPr lang="en-IN" sz="1600" b="0" u="none" strike="noStrike" dirty="0">
                          <a:solidFill>
                            <a:schemeClr val="tx1"/>
                          </a:solidFill>
                          <a:effectLst/>
                        </a:rPr>
                        <a:t> Bin Emran</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Big Data Analytics , IOT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Construction Cost is Low , Improving Water Quality</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 limited battery life , harsh environmental condition</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extLst>
                  <a:ext uri="{0D108BD9-81ED-4DB2-BD59-A6C34878D82A}">
                    <a16:rowId xmlns:a16="http://schemas.microsoft.com/office/drawing/2014/main" val="10002"/>
                  </a:ext>
                </a:extLst>
              </a:tr>
              <a:tr h="809312">
                <a:tc>
                  <a:txBody>
                    <a:bodyPr/>
                    <a:lstStyle/>
                    <a:p>
                      <a:pPr algn="ctr" fontAlgn="ctr"/>
                      <a:r>
                        <a:rPr lang="en-US" sz="2000" b="0" u="none" strike="noStrike" dirty="0">
                          <a:solidFill>
                            <a:schemeClr val="tx1"/>
                          </a:solidFill>
                          <a:effectLst/>
                        </a:rPr>
                        <a:t>3</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IOT Based Smart Water Quality Monitoring System &amp;</a:t>
                      </a:r>
                    </a:p>
                    <a:p>
                      <a:pPr algn="ctr" fontAlgn="ctr"/>
                      <a:r>
                        <a:rPr lang="en-IN" sz="1600" b="0" u="none" strike="noStrike" dirty="0">
                          <a:solidFill>
                            <a:schemeClr val="tx1"/>
                          </a:solidFill>
                          <a:effectLst/>
                        </a:rPr>
                        <a:t>Varsha </a:t>
                      </a:r>
                      <a:r>
                        <a:rPr lang="en-IN" sz="1600" b="0" u="none" strike="noStrike" dirty="0" err="1">
                          <a:solidFill>
                            <a:schemeClr val="tx1"/>
                          </a:solidFill>
                          <a:effectLst/>
                        </a:rPr>
                        <a:t>LakshmiKatha</a:t>
                      </a:r>
                      <a:r>
                        <a:rPr lang="en-IN" sz="1600" b="0" u="none" strike="noStrike" dirty="0">
                          <a:solidFill>
                            <a:schemeClr val="tx1"/>
                          </a:solidFill>
                          <a:effectLst/>
                        </a:rPr>
                        <a:t>, Aruna Patted</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 IOT , Cloud Computing</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Low Power Consumption , Highly Efficiency</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Data overload , sensor maintenance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extLst>
                  <a:ext uri="{0D108BD9-81ED-4DB2-BD59-A6C34878D82A}">
                    <a16:rowId xmlns:a16="http://schemas.microsoft.com/office/drawing/2014/main" val="10003"/>
                  </a:ext>
                </a:extLst>
              </a:tr>
              <a:tr h="906560">
                <a:tc>
                  <a:txBody>
                    <a:bodyPr/>
                    <a:lstStyle/>
                    <a:p>
                      <a:pPr algn="ctr" fontAlgn="ctr"/>
                      <a:r>
                        <a:rPr lang="en-US" sz="2000" b="0" u="none" strike="noStrike" dirty="0">
                          <a:solidFill>
                            <a:schemeClr val="tx1"/>
                          </a:solidFill>
                          <a:effectLst/>
                        </a:rPr>
                        <a:t>4</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IOT Based Water Quality Monitoring System And </a:t>
                      </a:r>
                      <a:r>
                        <a:rPr lang="en-IN" sz="1600" u="none" strike="noStrike" dirty="0" err="1">
                          <a:solidFill>
                            <a:schemeClr val="tx1"/>
                          </a:solidFill>
                          <a:effectLst/>
                        </a:rPr>
                        <a:t>Evalution</a:t>
                      </a:r>
                      <a:r>
                        <a:rPr lang="en-IN" sz="1600" u="none" strike="noStrike" dirty="0">
                          <a:solidFill>
                            <a:schemeClr val="tx1"/>
                          </a:solidFill>
                          <a:effectLst/>
                        </a:rPr>
                        <a:t>  &amp;</a:t>
                      </a:r>
                    </a:p>
                    <a:p>
                      <a:pPr algn="ctr" fontAlgn="ctr"/>
                      <a:r>
                        <a:rPr lang="en-IN" sz="1600" b="0" u="none" strike="noStrike" dirty="0" err="1">
                          <a:solidFill>
                            <a:schemeClr val="tx1"/>
                          </a:solidFill>
                          <a:effectLst/>
                        </a:rPr>
                        <a:t>Shabinar</a:t>
                      </a:r>
                      <a:r>
                        <a:rPr lang="en-IN" sz="1600" b="0" u="none" strike="noStrike" dirty="0">
                          <a:solidFill>
                            <a:schemeClr val="tx1"/>
                          </a:solidFill>
                          <a:effectLst/>
                        </a:rPr>
                        <a:t> Abdul Hamid, </a:t>
                      </a:r>
                      <a:r>
                        <a:rPr lang="en-IN" sz="1600" b="0" u="none" strike="noStrike" dirty="0" err="1">
                          <a:solidFill>
                            <a:schemeClr val="tx1"/>
                          </a:solidFill>
                          <a:effectLst/>
                        </a:rPr>
                        <a:t>Samihah</a:t>
                      </a:r>
                      <a:r>
                        <a:rPr lang="en-IN" sz="1600" b="0" u="none" strike="noStrike" dirty="0">
                          <a:solidFill>
                            <a:schemeClr val="tx1"/>
                          </a:solidFill>
                          <a:effectLst/>
                        </a:rPr>
                        <a:t> Abdullah</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Wireless sensor Network , IOT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Public Health Consumption , Research &amp; Development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High Initial Investment , Data Quality Issues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extLst>
                  <a:ext uri="{0D108BD9-81ED-4DB2-BD59-A6C34878D82A}">
                    <a16:rowId xmlns:a16="http://schemas.microsoft.com/office/drawing/2014/main" val="10004"/>
                  </a:ext>
                </a:extLst>
              </a:tr>
              <a:tr h="763933">
                <a:tc>
                  <a:txBody>
                    <a:bodyPr/>
                    <a:lstStyle/>
                    <a:p>
                      <a:pPr algn="ctr" fontAlgn="ctr"/>
                      <a:r>
                        <a:rPr lang="en-US" sz="2000" b="0" u="none" strike="noStrike" dirty="0">
                          <a:solidFill>
                            <a:schemeClr val="tx1"/>
                          </a:solidFill>
                          <a:effectLst/>
                        </a:rPr>
                        <a:t>5</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err="1">
                          <a:solidFill>
                            <a:schemeClr val="tx1"/>
                          </a:solidFill>
                          <a:effectLst/>
                        </a:rPr>
                        <a:t>Devlopment</a:t>
                      </a:r>
                      <a:r>
                        <a:rPr lang="en-IN" sz="1600" u="none" strike="noStrike" dirty="0">
                          <a:solidFill>
                            <a:schemeClr val="tx1"/>
                          </a:solidFill>
                          <a:effectLst/>
                        </a:rPr>
                        <a:t> Of  Real-Time IOT Based Water Quality Monitoring System &amp;</a:t>
                      </a:r>
                    </a:p>
                    <a:p>
                      <a:pPr algn="ctr" fontAlgn="ctr"/>
                      <a:r>
                        <a:rPr lang="en-IN" sz="1600" b="0" u="none" strike="noStrike" dirty="0" err="1">
                          <a:solidFill>
                            <a:schemeClr val="tx1"/>
                          </a:solidFill>
                          <a:effectLst/>
                        </a:rPr>
                        <a:t>Huzein</a:t>
                      </a:r>
                      <a:r>
                        <a:rPr lang="en-IN" sz="1600" b="0" u="none" strike="noStrike" dirty="0">
                          <a:solidFill>
                            <a:schemeClr val="tx1"/>
                          </a:solidFill>
                          <a:effectLst/>
                        </a:rPr>
                        <a:t> Fahmi bin </a:t>
                      </a:r>
                      <a:r>
                        <a:rPr lang="en-IN" sz="1600" b="0" u="none" strike="noStrike" dirty="0" err="1">
                          <a:solidFill>
                            <a:schemeClr val="tx1"/>
                          </a:solidFill>
                          <a:effectLst/>
                        </a:rPr>
                        <a:t>Hawari</a:t>
                      </a:r>
                      <a:r>
                        <a:rPr lang="en-IN" sz="1600" b="0" u="none" strike="noStrike" dirty="0">
                          <a:solidFill>
                            <a:schemeClr val="tx1"/>
                          </a:solidFill>
                          <a:effectLst/>
                        </a:rPr>
                        <a:t>, Sohail Sarang</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Microcontrollers , IOT gateway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 reduced water waste , improved compliance</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600" u="none" strike="noStrike" dirty="0">
                          <a:solidFill>
                            <a:schemeClr val="tx1"/>
                          </a:solidFill>
                          <a:effectLst/>
                        </a:rPr>
                        <a:t>Data privacy concerns , public acceptance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tc>
                <a:extLst>
                  <a:ext uri="{0D108BD9-81ED-4DB2-BD59-A6C34878D82A}">
                    <a16:rowId xmlns:a16="http://schemas.microsoft.com/office/drawing/2014/main" val="10005"/>
                  </a:ext>
                </a:extLst>
              </a:tr>
            </a:tbl>
          </a:graphicData>
        </a:graphic>
      </p:graphicFrame>
      <p:pic>
        <p:nvPicPr>
          <p:cNvPr id="17458" name="Picture 1">
            <a:extLst>
              <a:ext uri="{FF2B5EF4-FFF2-40B4-BE49-F238E27FC236}">
                <a16:creationId xmlns:a16="http://schemas.microsoft.com/office/drawing/2014/main" id="{BCD93C30-FE12-C382-3831-72CE2F6022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36525"/>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07A9D1-B9C4-681C-B587-0AFF9C963B67}"/>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7" name="Title 6">
            <a:extLst>
              <a:ext uri="{FF2B5EF4-FFF2-40B4-BE49-F238E27FC236}">
                <a16:creationId xmlns:a16="http://schemas.microsoft.com/office/drawing/2014/main" id="{E5BA0C3D-89CA-586E-EA9C-160147C9E5BB}"/>
              </a:ext>
            </a:extLst>
          </p:cNvPr>
          <p:cNvSpPr>
            <a:spLocks noGrp="1"/>
          </p:cNvSpPr>
          <p:nvPr>
            <p:ph type="title"/>
          </p:nvPr>
        </p:nvSpPr>
        <p:spPr>
          <a:xfrm>
            <a:off x="622999" y="83307"/>
            <a:ext cx="10363200" cy="838200"/>
          </a:xfrm>
        </p:spPr>
        <p:txBody>
          <a:bodyPr>
            <a:normAutofit/>
          </a:bodyPr>
          <a:lstStyle/>
          <a:p>
            <a:pPr algn="ctr" eaLnBrk="1" fontAlgn="auto" hangingPunct="1">
              <a:spcAft>
                <a:spcPts val="0"/>
              </a:spcAft>
              <a:defRPr/>
            </a:pPr>
            <a:r>
              <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ea typeface="Microsoft Sans Serif" panose="020B0604020202020204" pitchFamily="34" charset="0"/>
                <a:cs typeface="Times New Roman" panose="02020603050405020304" pitchFamily="18" charset="0"/>
              </a:rPr>
              <a:t>LITERATURE SURVEY</a:t>
            </a:r>
          </a:p>
        </p:txBody>
      </p:sp>
      <p:sp>
        <p:nvSpPr>
          <p:cNvPr id="4" name="Slide Number Placeholder 3">
            <a:extLst>
              <a:ext uri="{FF2B5EF4-FFF2-40B4-BE49-F238E27FC236}">
                <a16:creationId xmlns:a16="http://schemas.microsoft.com/office/drawing/2014/main" id="{50AF0652-280F-CBCA-84B7-4C559D9105DC}"/>
              </a:ext>
            </a:extLst>
          </p:cNvPr>
          <p:cNvSpPr>
            <a:spLocks noGrp="1"/>
          </p:cNvSpPr>
          <p:nvPr>
            <p:ph type="sldNum" sz="quarter" idx="12"/>
          </p:nvPr>
        </p:nvSpPr>
        <p:spPr/>
        <p:txBody>
          <a:bodyPr/>
          <a:lstStyle>
            <a:lvl1pPr>
              <a:defRPr>
                <a:solidFill>
                  <a:schemeClr val="tx1"/>
                </a:solidFill>
                <a:latin typeface="Palatino Linotype" panose="02040502050505030304" pitchFamily="18" charset="0"/>
              </a:defRPr>
            </a:lvl1pPr>
            <a:lvl2pPr marL="742950" indent="-285750">
              <a:defRPr>
                <a:solidFill>
                  <a:schemeClr val="tx1"/>
                </a:solidFill>
                <a:latin typeface="Palatino Linotype" panose="02040502050505030304" pitchFamily="18" charset="0"/>
              </a:defRPr>
            </a:lvl2pPr>
            <a:lvl3pPr marL="1143000" indent="-228600">
              <a:defRPr>
                <a:solidFill>
                  <a:schemeClr val="tx1"/>
                </a:solidFill>
                <a:latin typeface="Palatino Linotype" panose="02040502050505030304" pitchFamily="18" charset="0"/>
              </a:defRPr>
            </a:lvl3pPr>
            <a:lvl4pPr marL="1600200" indent="-228600">
              <a:defRPr>
                <a:solidFill>
                  <a:schemeClr val="tx1"/>
                </a:solidFill>
                <a:latin typeface="Palatino Linotype" panose="02040502050505030304" pitchFamily="18" charset="0"/>
              </a:defRPr>
            </a:lvl4pPr>
            <a:lvl5pPr marL="2057400" indent="-228600">
              <a:defRPr>
                <a:solidFill>
                  <a:schemeClr val="tx1"/>
                </a:solidFill>
                <a:latin typeface="Palatino Linotype" panose="02040502050505030304" pitchFamily="18"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defRPr>
            </a:lvl9pPr>
          </a:lstStyle>
          <a:p>
            <a:pPr>
              <a:defRPr/>
            </a:pPr>
            <a:fld id="{48515B8D-5BA8-4601-83C3-69A8D45B1BAA}" type="slidenum">
              <a:rPr lang="en-US" altLang="en-US" smtClean="0">
                <a:solidFill>
                  <a:schemeClr val="bg1"/>
                </a:solidFill>
                <a:latin typeface="Century Gothic" panose="020B0502020202020204" pitchFamily="34" charset="0"/>
              </a:rPr>
              <a:pPr>
                <a:defRPr/>
              </a:pPr>
              <a:t>7</a:t>
            </a:fld>
            <a:endParaRPr lang="en-US" altLang="en-US">
              <a:solidFill>
                <a:schemeClr val="bg1"/>
              </a:solidFill>
              <a:latin typeface="Century Gothic" panose="020B0502020202020204" pitchFamily="34" charset="0"/>
            </a:endParaRPr>
          </a:p>
        </p:txBody>
      </p:sp>
      <p:sp>
        <p:nvSpPr>
          <p:cNvPr id="10" name="Content Placeholder 2">
            <a:extLst>
              <a:ext uri="{FF2B5EF4-FFF2-40B4-BE49-F238E27FC236}">
                <a16:creationId xmlns:a16="http://schemas.microsoft.com/office/drawing/2014/main" id="{88979159-5EEF-29D2-7243-2DD84006B5DD}"/>
              </a:ext>
            </a:extLst>
          </p:cNvPr>
          <p:cNvSpPr txBox="1">
            <a:spLocks/>
          </p:cNvSpPr>
          <p:nvPr/>
        </p:nvSpPr>
        <p:spPr>
          <a:xfrm>
            <a:off x="1219200" y="1447800"/>
            <a:ext cx="10363200" cy="4572000"/>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fontAlgn="auto">
              <a:spcAft>
                <a:spcPts val="0"/>
              </a:spcAft>
              <a:buNone/>
              <a:defRPr/>
            </a:pPr>
            <a:endParaRPr lang="en-IN"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3E44AFFA-92D2-D430-C99E-BC77DD1F325F}"/>
              </a:ext>
            </a:extLst>
          </p:cNvPr>
          <p:cNvGraphicFramePr>
            <a:graphicFrameLocks noGrp="1"/>
          </p:cNvGraphicFramePr>
          <p:nvPr>
            <p:extLst>
              <p:ext uri="{D42A27DB-BD31-4B8C-83A1-F6EECF244321}">
                <p14:modId xmlns:p14="http://schemas.microsoft.com/office/powerpoint/2010/main" val="2915177782"/>
              </p:ext>
            </p:extLst>
          </p:nvPr>
        </p:nvGraphicFramePr>
        <p:xfrm>
          <a:off x="622999" y="1000211"/>
          <a:ext cx="11030902" cy="5467177"/>
        </p:xfrm>
        <a:graphic>
          <a:graphicData uri="http://schemas.openxmlformats.org/drawingml/2006/table">
            <a:tbl>
              <a:tblPr>
                <a:tableStyleId>{5940675A-B579-460E-94D1-54222C63F5DA}</a:tableStyleId>
              </a:tblPr>
              <a:tblGrid>
                <a:gridCol w="819402">
                  <a:extLst>
                    <a:ext uri="{9D8B030D-6E8A-4147-A177-3AD203B41FA5}">
                      <a16:colId xmlns:a16="http://schemas.microsoft.com/office/drawing/2014/main" val="20000"/>
                    </a:ext>
                  </a:extLst>
                </a:gridCol>
                <a:gridCol w="4242779">
                  <a:extLst>
                    <a:ext uri="{9D8B030D-6E8A-4147-A177-3AD203B41FA5}">
                      <a16:colId xmlns:a16="http://schemas.microsoft.com/office/drawing/2014/main" val="20001"/>
                    </a:ext>
                  </a:extLst>
                </a:gridCol>
                <a:gridCol w="1909187">
                  <a:extLst>
                    <a:ext uri="{9D8B030D-6E8A-4147-A177-3AD203B41FA5}">
                      <a16:colId xmlns:a16="http://schemas.microsoft.com/office/drawing/2014/main" val="20002"/>
                    </a:ext>
                  </a:extLst>
                </a:gridCol>
                <a:gridCol w="1467059">
                  <a:extLst>
                    <a:ext uri="{9D8B030D-6E8A-4147-A177-3AD203B41FA5}">
                      <a16:colId xmlns:a16="http://schemas.microsoft.com/office/drawing/2014/main" val="20003"/>
                    </a:ext>
                  </a:extLst>
                </a:gridCol>
                <a:gridCol w="2592475">
                  <a:extLst>
                    <a:ext uri="{9D8B030D-6E8A-4147-A177-3AD203B41FA5}">
                      <a16:colId xmlns:a16="http://schemas.microsoft.com/office/drawing/2014/main" val="20004"/>
                    </a:ext>
                  </a:extLst>
                </a:gridCol>
              </a:tblGrid>
              <a:tr h="302781">
                <a:tc>
                  <a:txBody>
                    <a:bodyPr/>
                    <a:lstStyle/>
                    <a:p>
                      <a:pPr algn="ctr" fontAlgn="ctr"/>
                      <a:r>
                        <a:rPr lang="en-IN" sz="2000" u="none" strike="noStrike" dirty="0">
                          <a:solidFill>
                            <a:schemeClr val="tx1"/>
                          </a:solidFill>
                          <a:effectLst/>
                        </a:rPr>
                        <a:t>Ref. No</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u="none" strike="noStrike" dirty="0">
                          <a:solidFill>
                            <a:schemeClr val="tx1"/>
                          </a:solidFill>
                          <a:effectLst/>
                        </a:rPr>
                        <a:t>Title &amp; Author</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u="none" strike="noStrike" dirty="0">
                          <a:solidFill>
                            <a:schemeClr val="tx1"/>
                          </a:solidFill>
                          <a:effectLst/>
                        </a:rPr>
                        <a:t>Technique Used</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u="none" strike="noStrike">
                          <a:solidFill>
                            <a:schemeClr val="tx1"/>
                          </a:solidFill>
                          <a:effectLst/>
                        </a:rPr>
                        <a:t>Pros</a:t>
                      </a:r>
                      <a:endParaRPr lang="en-IN" sz="2000" b="0" i="0" u="none" strike="noStrike">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u="none" strike="noStrike" dirty="0">
                          <a:solidFill>
                            <a:schemeClr val="tx1"/>
                          </a:solidFill>
                          <a:effectLst/>
                        </a:rPr>
                        <a:t>Cons</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007436">
                <a:tc>
                  <a:txBody>
                    <a:bodyPr/>
                    <a:lstStyle/>
                    <a:p>
                      <a:pPr algn="ctr" fontAlgn="ctr"/>
                      <a:r>
                        <a:rPr lang="en-IN" sz="2000" b="0" u="none" strike="noStrike" dirty="0">
                          <a:solidFill>
                            <a:schemeClr val="tx1"/>
                          </a:solidFill>
                          <a:effectLst/>
                        </a:rPr>
                        <a:t>6</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u="none" strike="noStrike" dirty="0">
                          <a:solidFill>
                            <a:schemeClr val="tx1"/>
                          </a:solidFill>
                          <a:effectLst/>
                        </a:rPr>
                        <a:t>Water Quality Monitoring System Using IOT </a:t>
                      </a:r>
                    </a:p>
                    <a:p>
                      <a:pPr marL="0" marR="0" lvl="0" indent="0" algn="ctr" defTabSz="914400" rtl="0" eaLnBrk="1" fontAlgn="ctr" latinLnBrk="0" hangingPunct="1">
                        <a:lnSpc>
                          <a:spcPct val="100000"/>
                        </a:lnSpc>
                        <a:spcBef>
                          <a:spcPts val="0"/>
                        </a:spcBef>
                        <a:spcAft>
                          <a:spcPts val="0"/>
                        </a:spcAft>
                        <a:buClrTx/>
                        <a:buSzTx/>
                        <a:buFontTx/>
                        <a:buNone/>
                        <a:tabLst/>
                        <a:defRPr/>
                      </a:pPr>
                      <a:r>
                        <a:rPr lang="en-IN" sz="1600" u="none" strike="noStrike" dirty="0">
                          <a:solidFill>
                            <a:schemeClr val="tx1"/>
                          </a:solidFill>
                          <a:effectLst/>
                        </a:rPr>
                        <a:t>&amp;</a:t>
                      </a:r>
                    </a:p>
                    <a:p>
                      <a:pPr algn="ctr" fontAlgn="ctr"/>
                      <a:r>
                        <a:rPr lang="en-IN" sz="1600" u="none" strike="noStrike" dirty="0">
                          <a:solidFill>
                            <a:schemeClr val="tx1"/>
                          </a:solidFill>
                          <a:effectLst/>
                        </a:rPr>
                        <a:t>Nageswara Rao </a:t>
                      </a:r>
                      <a:r>
                        <a:rPr lang="en-IN" sz="1600" u="none" strike="noStrike" dirty="0" err="1">
                          <a:solidFill>
                            <a:schemeClr val="tx1"/>
                          </a:solidFill>
                          <a:effectLst/>
                        </a:rPr>
                        <a:t>Moparthi</a:t>
                      </a:r>
                      <a:r>
                        <a:rPr lang="en-IN" sz="1600" u="none" strike="noStrike" dirty="0">
                          <a:solidFill>
                            <a:schemeClr val="tx1"/>
                          </a:solidFill>
                          <a:effectLst/>
                        </a:rPr>
                        <a:t>, </a:t>
                      </a:r>
                      <a:r>
                        <a:rPr lang="en-IN" sz="1600" u="none" strike="noStrike" dirty="0" err="1">
                          <a:solidFill>
                            <a:schemeClr val="tx1"/>
                          </a:solidFill>
                          <a:effectLst/>
                        </a:rPr>
                        <a:t>Ch.Mukesh</a:t>
                      </a:r>
                      <a:r>
                        <a:rPr lang="en-IN" sz="1600" u="none" strike="noStrike" dirty="0">
                          <a:solidFill>
                            <a:schemeClr val="tx1"/>
                          </a:solidFill>
                          <a:effectLst/>
                        </a:rPr>
                        <a:t>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2000" u="none" strike="noStrike" dirty="0">
                          <a:solidFill>
                            <a:schemeClr val="tx1"/>
                          </a:solidFill>
                          <a:effectLst/>
                        </a:rPr>
                        <a:t> </a:t>
                      </a:r>
                      <a:r>
                        <a:rPr lang="en-IN" sz="1600" u="none" strike="noStrike" dirty="0">
                          <a:solidFill>
                            <a:schemeClr val="tx1"/>
                          </a:solidFill>
                          <a:effectLst/>
                        </a:rPr>
                        <a:t>IOT , Cloud Computing, Temperature</a:t>
                      </a:r>
                      <a:r>
                        <a:rPr lang="en-IN" sz="1600" u="none" strike="noStrike" baseline="0" dirty="0">
                          <a:solidFill>
                            <a:schemeClr val="tx1"/>
                          </a:solidFill>
                          <a:effectLst/>
                        </a:rPr>
                        <a:t> sensors</a:t>
                      </a:r>
                      <a:endParaRPr lang="en-IN" sz="1600" b="0" u="none" strike="noStrike" dirty="0">
                        <a:solidFill>
                          <a:schemeClr val="tx1"/>
                        </a:solidFill>
                        <a:effectLst/>
                      </a:endParaRPr>
                    </a:p>
                    <a:p>
                      <a:pPr algn="ctr" fontAlgn="ctr"/>
                      <a:r>
                        <a:rPr lang="en-IN" sz="1600" u="none" strike="noStrike" dirty="0">
                          <a:solidFill>
                            <a:schemeClr val="tx1"/>
                          </a:solidFill>
                          <a:effectLst/>
                        </a:rPr>
                        <a:t>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solidFill>
                            <a:schemeClr val="tx1"/>
                          </a:solidFill>
                          <a:effectLst/>
                        </a:rPr>
                        <a:t>Early warning systems, Real-time monitoring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solidFill>
                            <a:schemeClr val="tx1"/>
                          </a:solidFill>
                          <a:effectLst/>
                        </a:rPr>
                        <a:t> Limited</a:t>
                      </a:r>
                      <a:r>
                        <a:rPr lang="en-IN" sz="1600" u="none" strike="noStrike" baseline="0" dirty="0">
                          <a:solidFill>
                            <a:schemeClr val="tx1"/>
                          </a:solidFill>
                          <a:effectLst/>
                        </a:rPr>
                        <a:t> Coverage, Security Risk</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22771">
                <a:tc>
                  <a:txBody>
                    <a:bodyPr/>
                    <a:lstStyle/>
                    <a:p>
                      <a:pPr algn="ctr" fontAlgn="ctr"/>
                      <a:r>
                        <a:rPr lang="en-IN" sz="2000" u="none" strike="noStrike" dirty="0">
                          <a:solidFill>
                            <a:schemeClr val="tx1"/>
                          </a:solidFill>
                          <a:effectLst/>
                        </a:rPr>
                        <a:t>7</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solidFill>
                            <a:schemeClr val="tx1"/>
                          </a:solidFill>
                          <a:effectLst/>
                        </a:rPr>
                        <a:t>Development Of IOT For Automated Water Quality Monitoring System  &amp;</a:t>
                      </a:r>
                    </a:p>
                    <a:p>
                      <a:pPr algn="ctr" fontAlgn="ctr"/>
                      <a:r>
                        <a:rPr lang="en-IN" sz="2000" u="none" strike="noStrike" dirty="0">
                          <a:solidFill>
                            <a:schemeClr val="tx1"/>
                          </a:solidFill>
                          <a:effectLst/>
                        </a:rPr>
                        <a:t> </a:t>
                      </a:r>
                      <a:r>
                        <a:rPr lang="en-IN" sz="1600" u="none" strike="noStrike" dirty="0" err="1">
                          <a:solidFill>
                            <a:schemeClr val="tx1"/>
                          </a:solidFill>
                          <a:effectLst/>
                        </a:rPr>
                        <a:t>Riziq</a:t>
                      </a:r>
                      <a:r>
                        <a:rPr lang="en-IN" sz="1600" u="none" strike="noStrike" dirty="0">
                          <a:solidFill>
                            <a:schemeClr val="tx1"/>
                          </a:solidFill>
                          <a:effectLst/>
                        </a:rPr>
                        <a:t> Putri </a:t>
                      </a:r>
                      <a:r>
                        <a:rPr lang="en-IN" sz="1600" u="none" strike="noStrike" dirty="0" err="1">
                          <a:solidFill>
                            <a:schemeClr val="tx1"/>
                          </a:solidFill>
                          <a:effectLst/>
                        </a:rPr>
                        <a:t>Nourma</a:t>
                      </a:r>
                      <a:r>
                        <a:rPr lang="en-IN" sz="1600" u="none" strike="noStrike" dirty="0">
                          <a:solidFill>
                            <a:schemeClr val="tx1"/>
                          </a:solidFill>
                          <a:effectLst/>
                        </a:rPr>
                        <a:t> </a:t>
                      </a:r>
                      <a:r>
                        <a:rPr lang="en-IN" sz="1600" u="none" strike="noStrike" dirty="0" err="1">
                          <a:solidFill>
                            <a:schemeClr val="tx1"/>
                          </a:solidFill>
                          <a:effectLst/>
                        </a:rPr>
                        <a:t>Budiarti</a:t>
                      </a:r>
                      <a:r>
                        <a:rPr lang="en-IN" sz="1600" u="none" strike="noStrike" dirty="0">
                          <a:solidFill>
                            <a:schemeClr val="tx1"/>
                          </a:solidFill>
                          <a:effectLst/>
                        </a:rPr>
                        <a:t>, </a:t>
                      </a:r>
                      <a:r>
                        <a:rPr lang="en-IN" sz="1600" u="none" strike="noStrike" dirty="0" err="1">
                          <a:solidFill>
                            <a:schemeClr val="tx1"/>
                          </a:solidFill>
                          <a:effectLst/>
                        </a:rPr>
                        <a:t>Anang</a:t>
                      </a:r>
                      <a:r>
                        <a:rPr lang="en-IN" sz="1600" u="none" strike="noStrike" dirty="0">
                          <a:solidFill>
                            <a:schemeClr val="tx1"/>
                          </a:solidFill>
                          <a:effectLst/>
                        </a:rPr>
                        <a:t> </a:t>
                      </a:r>
                      <a:r>
                        <a:rPr lang="en-IN" sz="1600" u="none" strike="noStrike" dirty="0" err="1">
                          <a:solidFill>
                            <a:schemeClr val="tx1"/>
                          </a:solidFill>
                          <a:effectLst/>
                        </a:rPr>
                        <a:t>Tjahjono</a:t>
                      </a:r>
                      <a:endParaRPr lang="en-IN" sz="160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solidFill>
                            <a:schemeClr val="tx1"/>
                          </a:solidFill>
                          <a:effectLst/>
                        </a:rPr>
                        <a:t>Microcontrollers, Cloud</a:t>
                      </a:r>
                      <a:r>
                        <a:rPr lang="en-IN" sz="1600" u="none" strike="noStrike" baseline="0" dirty="0">
                          <a:solidFill>
                            <a:schemeClr val="tx1"/>
                          </a:solidFill>
                          <a:effectLst/>
                        </a:rPr>
                        <a:t> Computing, IOT</a:t>
                      </a:r>
                      <a:r>
                        <a:rPr lang="en-IN" sz="2000" u="none" strike="noStrike" dirty="0">
                          <a:solidFill>
                            <a:schemeClr val="tx1"/>
                          </a:solidFill>
                          <a:effectLst/>
                        </a:rPr>
                        <a:t>  </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solidFill>
                            <a:schemeClr val="tx1"/>
                          </a:solidFill>
                          <a:effectLst/>
                        </a:rPr>
                        <a:t>Automated alerts , cost effective</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solidFill>
                            <a:schemeClr val="tx1"/>
                          </a:solidFill>
                          <a:effectLst/>
                        </a:rPr>
                        <a:t> complexity , sensor maintenance</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085349">
                <a:tc>
                  <a:txBody>
                    <a:bodyPr/>
                    <a:lstStyle/>
                    <a:p>
                      <a:pPr algn="ctr" fontAlgn="ctr"/>
                      <a:r>
                        <a:rPr lang="en-IN" sz="2000" u="none" strike="noStrike" dirty="0">
                          <a:solidFill>
                            <a:schemeClr val="tx1"/>
                          </a:solidFill>
                          <a:effectLst/>
                        </a:rPr>
                        <a:t>8</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solidFill>
                            <a:schemeClr val="tx1"/>
                          </a:solidFill>
                          <a:effectLst/>
                        </a:rPr>
                        <a:t> IOT and WSN Based Water Quality Monitoring System</a:t>
                      </a:r>
                    </a:p>
                    <a:p>
                      <a:pPr algn="ctr" fontAlgn="ctr"/>
                      <a:r>
                        <a:rPr lang="en-IN" sz="1600" b="0" u="none" strike="noStrike" dirty="0">
                          <a:solidFill>
                            <a:schemeClr val="tx1"/>
                          </a:solidFill>
                          <a:effectLst/>
                        </a:rPr>
                        <a:t>&amp;</a:t>
                      </a:r>
                    </a:p>
                    <a:p>
                      <a:pPr algn="ctr" fontAlgn="ctr"/>
                      <a:r>
                        <a:rPr lang="en-IN" sz="1600" b="0" u="none" strike="noStrike" dirty="0" err="1">
                          <a:solidFill>
                            <a:schemeClr val="tx1"/>
                          </a:solidFill>
                          <a:effectLst/>
                        </a:rPr>
                        <a:t>Simitha</a:t>
                      </a:r>
                      <a:r>
                        <a:rPr lang="en-IN" sz="1600" b="0" u="none" strike="noStrike" dirty="0">
                          <a:solidFill>
                            <a:schemeClr val="tx1"/>
                          </a:solidFill>
                          <a:effectLst/>
                        </a:rPr>
                        <a:t>  K.M, Subodh Raj M.s</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u="none" strike="noStrike" dirty="0">
                          <a:solidFill>
                            <a:schemeClr val="tx1"/>
                          </a:solidFill>
                          <a:effectLst/>
                        </a:rPr>
                        <a:t>Big Data Analytics , IOT,</a:t>
                      </a:r>
                      <a:r>
                        <a:rPr lang="en-IN" sz="1600" u="none" strike="noStrike" baseline="0" dirty="0">
                          <a:solidFill>
                            <a:schemeClr val="tx1"/>
                          </a:solidFill>
                          <a:effectLst/>
                        </a:rPr>
                        <a:t> Python</a:t>
                      </a:r>
                      <a:endParaRPr lang="en-IN" sz="1600" b="0" u="none" strike="noStrike" dirty="0">
                        <a:solidFill>
                          <a:schemeClr val="tx1"/>
                        </a:solidFill>
                        <a:effectLst/>
                      </a:endParaRPr>
                    </a:p>
                    <a:p>
                      <a:pPr algn="ctr" fontAlgn="ctr"/>
                      <a:r>
                        <a:rPr lang="en-IN" sz="2000" u="none" strike="noStrike" dirty="0">
                          <a:solidFill>
                            <a:schemeClr val="tx1"/>
                          </a:solidFill>
                          <a:effectLst/>
                        </a:rPr>
                        <a:t> </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solidFill>
                            <a:schemeClr val="tx1"/>
                          </a:solidFill>
                          <a:effectLst/>
                        </a:rPr>
                        <a:t>Easy development , </a:t>
                      </a:r>
                    </a:p>
                    <a:p>
                      <a:pPr algn="ctr" fontAlgn="ctr"/>
                      <a:r>
                        <a:rPr lang="en-IN" sz="1600" u="none" strike="noStrike" dirty="0">
                          <a:solidFill>
                            <a:schemeClr val="tx1"/>
                          </a:solidFill>
                          <a:effectLst/>
                        </a:rPr>
                        <a:t>Low power consumption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solidFill>
                            <a:schemeClr val="tx1"/>
                          </a:solidFill>
                          <a:effectLst/>
                        </a:rPr>
                        <a:t>Single purpose , network congestion</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214005">
                <a:tc>
                  <a:txBody>
                    <a:bodyPr/>
                    <a:lstStyle/>
                    <a:p>
                      <a:pPr algn="ctr" fontAlgn="ctr"/>
                      <a:r>
                        <a:rPr lang="en-IN" sz="2000" u="none" strike="noStrike" dirty="0">
                          <a:solidFill>
                            <a:schemeClr val="tx1"/>
                          </a:solidFill>
                          <a:effectLst/>
                        </a:rPr>
                        <a:t>9</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u="none" strike="noStrike" kern="1200" baseline="0" dirty="0">
                          <a:solidFill>
                            <a:schemeClr val="tx1"/>
                          </a:solidFill>
                          <a:effectLst/>
                        </a:rPr>
                        <a:t>   </a:t>
                      </a:r>
                      <a:r>
                        <a:rPr lang="en-IN" sz="1600" b="0" u="none" strike="noStrike" kern="1200" baseline="0" dirty="0">
                          <a:solidFill>
                            <a:schemeClr val="tx1"/>
                          </a:solidFill>
                          <a:effectLst/>
                        </a:rPr>
                        <a:t>Towards an IOT – based water monitoring system with </a:t>
                      </a:r>
                      <a:r>
                        <a:rPr lang="en-IN" sz="1600" b="0" u="none" strike="noStrike" kern="1200" baseline="0" dirty="0" err="1">
                          <a:solidFill>
                            <a:schemeClr val="tx1"/>
                          </a:solidFill>
                          <a:effectLst/>
                        </a:rPr>
                        <a:t>brokerless</a:t>
                      </a:r>
                      <a:r>
                        <a:rPr lang="en-IN" sz="1600" b="0" u="none" strike="noStrike" kern="1200" baseline="0" dirty="0">
                          <a:solidFill>
                            <a:schemeClr val="tx1"/>
                          </a:solidFill>
                          <a:effectLst/>
                        </a:rPr>
                        <a:t> pub/sub architecture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u="none" strike="noStrike" kern="1200" baseline="0" dirty="0">
                          <a:solidFill>
                            <a:schemeClr val="tx1"/>
                          </a:solidFill>
                          <a:effectLst/>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u="none" strike="noStrike" kern="1200" baseline="0" dirty="0" err="1">
                          <a:solidFill>
                            <a:schemeClr val="tx1"/>
                          </a:solidFill>
                          <a:effectLst/>
                        </a:rPr>
                        <a:t>Alif</a:t>
                      </a:r>
                      <a:r>
                        <a:rPr lang="en-IN" sz="1600" b="0" u="none" strike="noStrike" kern="1200" baseline="0" dirty="0">
                          <a:solidFill>
                            <a:schemeClr val="tx1"/>
                          </a:solidFill>
                          <a:effectLst/>
                        </a:rPr>
                        <a:t> Akbar </a:t>
                      </a:r>
                      <a:r>
                        <a:rPr lang="en-IN" sz="1600" b="0" u="none" strike="noStrike" kern="1200" baseline="0" dirty="0" err="1">
                          <a:solidFill>
                            <a:schemeClr val="tx1"/>
                          </a:solidFill>
                          <a:effectLst/>
                        </a:rPr>
                        <a:t>Pranata</a:t>
                      </a:r>
                      <a:r>
                        <a:rPr lang="en-IN" sz="1600" b="0" u="none" strike="noStrike" kern="1200" baseline="0" dirty="0">
                          <a:solidFill>
                            <a:schemeClr val="tx1"/>
                          </a:solidFill>
                          <a:effectLst/>
                        </a:rPr>
                        <a:t> , Dong </a:t>
                      </a:r>
                      <a:r>
                        <a:rPr lang="en-IN" sz="1600" b="0" u="none" strike="noStrike" kern="1200" baseline="0" dirty="0" err="1">
                          <a:solidFill>
                            <a:schemeClr val="tx1"/>
                          </a:solidFill>
                          <a:effectLst/>
                        </a:rPr>
                        <a:t>Seong</a:t>
                      </a:r>
                      <a:r>
                        <a:rPr lang="en-IN" sz="1600" b="0" u="none" strike="noStrike" kern="1200" baseline="0" dirty="0">
                          <a:solidFill>
                            <a:schemeClr val="tx1"/>
                          </a:solidFill>
                          <a:effectLst/>
                        </a:rPr>
                        <a:t> Kim</a:t>
                      </a:r>
                      <a:endParaRPr lang="en-IN" sz="16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u="none" strike="noStrike" dirty="0">
                          <a:solidFill>
                            <a:schemeClr val="tx1"/>
                          </a:solidFill>
                          <a:effectLst/>
                        </a:rPr>
                        <a:t> </a:t>
                      </a:r>
                      <a:r>
                        <a:rPr lang="en-IN" sz="1600" u="none" strike="noStrike" dirty="0">
                          <a:solidFill>
                            <a:schemeClr val="tx1"/>
                          </a:solidFill>
                          <a:effectLst/>
                        </a:rPr>
                        <a:t>Wireless</a:t>
                      </a:r>
                      <a:r>
                        <a:rPr lang="en-IN" sz="1600" u="none" strike="noStrike" baseline="0" dirty="0">
                          <a:solidFill>
                            <a:schemeClr val="tx1"/>
                          </a:solidFill>
                          <a:effectLst/>
                        </a:rPr>
                        <a:t> sensor networks, Temperature sensors</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u="none" strike="noStrike" dirty="0">
                          <a:solidFill>
                            <a:schemeClr val="tx1"/>
                          </a:solidFill>
                          <a:effectLst/>
                        </a:rPr>
                        <a:t> </a:t>
                      </a:r>
                      <a:r>
                        <a:rPr lang="en-IN" sz="1600" u="none" strike="noStrike" dirty="0">
                          <a:solidFill>
                            <a:schemeClr val="tx1"/>
                          </a:solidFill>
                          <a:effectLst/>
                        </a:rPr>
                        <a:t>Real-time data processing, Low latency</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solidFill>
                            <a:schemeClr val="tx1"/>
                          </a:solidFill>
                          <a:effectLst/>
                        </a:rPr>
                        <a:t>Device discovery, Limited quality of service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948715">
                <a:tc>
                  <a:txBody>
                    <a:bodyPr/>
                    <a:lstStyle/>
                    <a:p>
                      <a:pPr algn="ctr" fontAlgn="ctr"/>
                      <a:r>
                        <a:rPr lang="en-IN" sz="2000" u="none" strike="noStrike" dirty="0">
                          <a:solidFill>
                            <a:schemeClr val="tx1"/>
                          </a:solidFill>
                          <a:effectLst/>
                        </a:rPr>
                        <a:t>10</a:t>
                      </a:r>
                      <a:endParaRPr lang="en-IN"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kern="1200" dirty="0">
                          <a:solidFill>
                            <a:schemeClr val="tx1"/>
                          </a:solidFill>
                          <a:effectLst/>
                        </a:rPr>
                        <a:t>Towards an </a:t>
                      </a:r>
                      <a:r>
                        <a:rPr lang="en-US" sz="1600" b="0" kern="1200" dirty="0" err="1">
                          <a:solidFill>
                            <a:schemeClr val="tx1"/>
                          </a:solidFill>
                          <a:effectLst/>
                        </a:rPr>
                        <a:t>IoT</a:t>
                      </a:r>
                      <a:r>
                        <a:rPr lang="en-US" sz="1600" b="0" kern="1200" dirty="0">
                          <a:solidFill>
                            <a:schemeClr val="tx1"/>
                          </a:solidFill>
                          <a:effectLst/>
                        </a:rPr>
                        <a:t>-based water quality monitoring system with </a:t>
                      </a:r>
                      <a:r>
                        <a:rPr lang="en-US" sz="1600" b="0" kern="1200" dirty="0" err="1">
                          <a:solidFill>
                            <a:schemeClr val="tx1"/>
                          </a:solidFill>
                          <a:effectLst/>
                        </a:rPr>
                        <a:t>brokerless</a:t>
                      </a:r>
                      <a:r>
                        <a:rPr lang="en-US" sz="1600" b="0" kern="1200" dirty="0">
                          <a:solidFill>
                            <a:schemeClr val="tx1"/>
                          </a:solidFill>
                          <a:effectLst/>
                        </a:rPr>
                        <a:t> pub/sub architecture</a:t>
                      </a:r>
                    </a:p>
                    <a:p>
                      <a:pPr algn="ctr"/>
                      <a:r>
                        <a:rPr lang="en-IN" sz="1600" b="0" kern="1200" dirty="0">
                          <a:solidFill>
                            <a:schemeClr val="tx1"/>
                          </a:solidFill>
                          <a:effectLst/>
                        </a:rPr>
                        <a:t>&amp;</a:t>
                      </a:r>
                    </a:p>
                    <a:p>
                      <a:pPr algn="ctr"/>
                      <a:r>
                        <a:rPr lang="en-IN" sz="1600" b="0" kern="1200" dirty="0">
                          <a:solidFill>
                            <a:schemeClr val="tx1"/>
                          </a:solidFill>
                          <a:effectLst/>
                        </a:rPr>
                        <a:t>R . </a:t>
                      </a:r>
                      <a:r>
                        <a:rPr lang="en-IN" sz="1600" b="0" kern="1200" dirty="0" err="1">
                          <a:solidFill>
                            <a:schemeClr val="tx1"/>
                          </a:solidFill>
                          <a:effectLst/>
                        </a:rPr>
                        <a:t>Dhanalakshmi</a:t>
                      </a:r>
                      <a:r>
                        <a:rPr lang="en-IN" sz="1600" b="0" kern="1200" dirty="0">
                          <a:solidFill>
                            <a:schemeClr val="tx1"/>
                          </a:solidFill>
                          <a:effectLst/>
                        </a:rPr>
                        <a:t> , </a:t>
                      </a:r>
                      <a:r>
                        <a:rPr lang="en-IN" sz="1600" b="0" kern="1200" dirty="0" err="1">
                          <a:solidFill>
                            <a:schemeClr val="tx1"/>
                          </a:solidFill>
                          <a:effectLst/>
                        </a:rPr>
                        <a:t>Jone</a:t>
                      </a:r>
                      <a:r>
                        <a:rPr lang="en-IN" sz="1600" b="0" kern="1200" baseline="0" dirty="0">
                          <a:solidFill>
                            <a:schemeClr val="tx1"/>
                          </a:solidFill>
                          <a:effectLst/>
                        </a:rPr>
                        <a:t> </a:t>
                      </a:r>
                      <a:r>
                        <a:rPr lang="en-IN" sz="1600" b="0" kern="1200" baseline="0" dirty="0" err="1">
                          <a:solidFill>
                            <a:schemeClr val="tx1"/>
                          </a:solidFill>
                          <a:effectLst/>
                        </a:rPr>
                        <a:t>Anandh</a:t>
                      </a:r>
                      <a:endParaRPr lang="en-US" sz="16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solidFill>
                            <a:schemeClr val="tx1"/>
                          </a:solidFill>
                          <a:effectLst/>
                        </a:rPr>
                        <a:t>Cloud </a:t>
                      </a:r>
                      <a:r>
                        <a:rPr lang="en-IN" sz="1600" u="none" strike="noStrike" dirty="0" err="1">
                          <a:solidFill>
                            <a:schemeClr val="tx1"/>
                          </a:solidFill>
                          <a:effectLst/>
                        </a:rPr>
                        <a:t>Coumputing</a:t>
                      </a:r>
                      <a:r>
                        <a:rPr lang="en-IN" sz="1600" u="none" strike="noStrike" dirty="0">
                          <a:solidFill>
                            <a:schemeClr val="tx1"/>
                          </a:solidFill>
                          <a:effectLst/>
                        </a:rPr>
                        <a:t>,</a:t>
                      </a:r>
                      <a:r>
                        <a:rPr lang="en-IN" sz="1600" u="none" strike="noStrike" baseline="0" dirty="0">
                          <a:solidFill>
                            <a:schemeClr val="tx1"/>
                          </a:solidFill>
                          <a:effectLst/>
                        </a:rPr>
                        <a:t> Fog </a:t>
                      </a:r>
                      <a:r>
                        <a:rPr lang="en-IN" sz="1600" u="none" strike="noStrike" baseline="0" dirty="0" err="1">
                          <a:solidFill>
                            <a:schemeClr val="tx1"/>
                          </a:solidFill>
                          <a:effectLst/>
                        </a:rPr>
                        <a:t>Coumputing</a:t>
                      </a:r>
                      <a:r>
                        <a:rPr lang="en-IN" sz="1600" u="none" strike="noStrike" baseline="0" dirty="0">
                          <a:solidFill>
                            <a:schemeClr val="tx1"/>
                          </a:solidFill>
                          <a:effectLst/>
                        </a:rPr>
                        <a:t>, IOT</a:t>
                      </a:r>
                      <a:r>
                        <a:rPr lang="en-IN" sz="1600" u="none" strike="noStrike" dirty="0">
                          <a:solidFill>
                            <a:schemeClr val="tx1"/>
                          </a:solidFill>
                          <a:effectLst/>
                        </a:rPr>
                        <a:t> </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solidFill>
                            <a:schemeClr val="tx1"/>
                          </a:solidFill>
                          <a:effectLst/>
                        </a:rPr>
                        <a:t>  Cost-effective, Improved security</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u="none" strike="noStrike" dirty="0">
                          <a:solidFill>
                            <a:schemeClr val="tx1"/>
                          </a:solidFill>
                          <a:effectLst/>
                        </a:rPr>
                        <a:t> </a:t>
                      </a:r>
                      <a:r>
                        <a:rPr lang="en-IN" sz="1600" u="none" strike="noStrike" dirty="0">
                          <a:solidFill>
                            <a:schemeClr val="tx1"/>
                          </a:solidFill>
                          <a:effectLst/>
                        </a:rPr>
                        <a:t>Debugging difficulties, Sensor calibration challenges</a:t>
                      </a:r>
                      <a:endParaRPr lang="en-IN"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17458" name="Picture 1">
            <a:extLst>
              <a:ext uri="{FF2B5EF4-FFF2-40B4-BE49-F238E27FC236}">
                <a16:creationId xmlns:a16="http://schemas.microsoft.com/office/drawing/2014/main" id="{BCD93C30-FE12-C382-3831-72CE2F6022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6198" y="147043"/>
            <a:ext cx="1038327" cy="743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29DF6B-1997-D560-A2C4-B765ED3D6FC1}"/>
              </a:ext>
            </a:extLst>
          </p:cNvPr>
          <p:cNvSpPr txBox="1"/>
          <p:nvPr/>
        </p:nvSpPr>
        <p:spPr>
          <a:xfrm>
            <a:off x="699977" y="1351906"/>
            <a:ext cx="10792046" cy="3693319"/>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1.Access to clean and safe water is essential for human health, environmental sustainability, and economic growth. With increasing pollution from industrial activities, agricultural runoff, Traditional water quality monitoring methods, such as manual sampling and laboratory analysis, are time-consuming, costly, and fail to provide continuous real-time data, which is critical for addressing water quality challenges effectively.</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This project is motivated by the urgent need for an efficient, scalable, and cost-effective solution to monitor water quality in real-time. Leveraging IoT technology offers the potential to transform water quality management by providing continuous data streams, early detection of contamination, and actionable insights. The system can help identify and mitigate water quality issues proactively, reducing health risks and preserving aquatic ecosystems.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3. Additionally, the integration of IoT with cloud platforms for data storage and analytics ensures accessibility and transparency of water quality data. These systems helpful to environmental protection. By automating monitoring processes, this project also reduces reliance on human resources.</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5B30D7C-3781-F6B8-783A-857CF77A8859}"/>
              </a:ext>
            </a:extLst>
          </p:cNvPr>
          <p:cNvSpPr txBox="1"/>
          <p:nvPr/>
        </p:nvSpPr>
        <p:spPr>
          <a:xfrm>
            <a:off x="4726172" y="432088"/>
            <a:ext cx="1944594" cy="400110"/>
          </a:xfrm>
          <a:prstGeom prst="rect">
            <a:avLst/>
          </a:prstGeom>
          <a:noFill/>
        </p:spPr>
        <p:txBody>
          <a:bodyPr wrap="square" rtlCol="0">
            <a:spAutoFit/>
          </a:bodyPr>
          <a:lstStyle/>
          <a:p>
            <a:pPr algn="ctr"/>
            <a:r>
              <a:rPr lang="en-US"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MOTIVATION</a:t>
            </a:r>
            <a:endPar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9B47F139-397F-2207-F458-005D14814AA7}"/>
              </a:ext>
            </a:extLst>
          </p:cNvPr>
          <p:cNvSpPr/>
          <p:nvPr/>
        </p:nvSpPr>
        <p:spPr>
          <a:xfrm>
            <a:off x="142350" y="59714"/>
            <a:ext cx="11925719" cy="6639536"/>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1">
            <a:extLst>
              <a:ext uri="{FF2B5EF4-FFF2-40B4-BE49-F238E27FC236}">
                <a16:creationId xmlns:a16="http://schemas.microsoft.com/office/drawing/2014/main" id="{CA6A4AE3-44C6-A03C-3013-A21D4CBAB5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1126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B0C798-8028-9946-A0EF-3BA8B354E9E9}"/>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7340367A-8740-9CE9-A81F-F9F035B8CE05}"/>
              </a:ext>
            </a:extLst>
          </p:cNvPr>
          <p:cNvSpPr txBox="1"/>
          <p:nvPr/>
        </p:nvSpPr>
        <p:spPr>
          <a:xfrm>
            <a:off x="5235191" y="688757"/>
            <a:ext cx="2019719" cy="400110"/>
          </a:xfrm>
          <a:prstGeom prst="rect">
            <a:avLst/>
          </a:prstGeom>
          <a:noFill/>
        </p:spPr>
        <p:txBody>
          <a:bodyPr wrap="square" rtlCol="0">
            <a:spAutoFit/>
          </a:bodyPr>
          <a:lstStyle/>
          <a:p>
            <a:pPr algn="ctr"/>
            <a:r>
              <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OBJECTIVE</a:t>
            </a:r>
          </a:p>
        </p:txBody>
      </p:sp>
      <p:sp>
        <p:nvSpPr>
          <p:cNvPr id="9" name="Rectangle 4">
            <a:extLst>
              <a:ext uri="{FF2B5EF4-FFF2-40B4-BE49-F238E27FC236}">
                <a16:creationId xmlns:a16="http://schemas.microsoft.com/office/drawing/2014/main" id="{A6B6099C-E410-3DE5-B024-0E095BF8DE33}"/>
              </a:ext>
            </a:extLst>
          </p:cNvPr>
          <p:cNvSpPr>
            <a:spLocks noChangeArrowheads="1"/>
          </p:cNvSpPr>
          <p:nvPr/>
        </p:nvSpPr>
        <p:spPr bwMode="auto">
          <a:xfrm>
            <a:off x="647281" y="2511844"/>
            <a:ext cx="11141947"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 Water Safety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 and alert on any contamination or unsafe levels of water quality parameters like pH, turbidity, and chemical pollutants.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Timely Intervention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 instant alerts for quick corrective action to prevent health risks or environmental damage.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 Monitoring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 the need for manual sampling and testing by automating the data collection process.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Decision-Making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 data-driven insights for better management of water resources and pollution control.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Scalability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Adapt to different environments, from small-scale systems like household tanks to large-scale water networks</a:t>
            </a:r>
          </a:p>
        </p:txBody>
      </p:sp>
      <p:sp>
        <p:nvSpPr>
          <p:cNvPr id="11" name="TextBox 10">
            <a:extLst>
              <a:ext uri="{FF2B5EF4-FFF2-40B4-BE49-F238E27FC236}">
                <a16:creationId xmlns:a16="http://schemas.microsoft.com/office/drawing/2014/main" id="{A044F7FC-57D3-E3AA-60BC-8E6243E12F02}"/>
              </a:ext>
            </a:extLst>
          </p:cNvPr>
          <p:cNvSpPr txBox="1"/>
          <p:nvPr/>
        </p:nvSpPr>
        <p:spPr>
          <a:xfrm>
            <a:off x="398584" y="1180784"/>
            <a:ext cx="9837337" cy="923330"/>
          </a:xfrm>
          <a:prstGeom prst="rect">
            <a:avLst/>
          </a:prstGeom>
          <a:noFill/>
        </p:spPr>
        <p:txBody>
          <a:bodyPr wrap="square" rtlCol="0">
            <a:spAutoFit/>
          </a:bodyPr>
          <a:lstStyle/>
          <a:p>
            <a:endParaRPr lang="en-US" dirty="0"/>
          </a:p>
          <a:p>
            <a:endParaRPr lang="en-US" dirty="0"/>
          </a:p>
          <a:p>
            <a:endParaRPr lang="en-IN" dirty="0"/>
          </a:p>
        </p:txBody>
      </p:sp>
      <p:sp>
        <p:nvSpPr>
          <p:cNvPr id="12" name="TextBox 11">
            <a:extLst>
              <a:ext uri="{FF2B5EF4-FFF2-40B4-BE49-F238E27FC236}">
                <a16:creationId xmlns:a16="http://schemas.microsoft.com/office/drawing/2014/main" id="{2EA33E82-4102-F26C-7D94-96E32EB9273C}"/>
              </a:ext>
            </a:extLst>
          </p:cNvPr>
          <p:cNvSpPr txBox="1"/>
          <p:nvPr/>
        </p:nvSpPr>
        <p:spPr>
          <a:xfrm>
            <a:off x="480646" y="1088867"/>
            <a:ext cx="9837337" cy="923330"/>
          </a:xfrm>
          <a:prstGeom prst="rect">
            <a:avLst/>
          </a:prstGeom>
          <a:noFill/>
        </p:spPr>
        <p:txBody>
          <a:bodyPr wrap="square" rtlCol="0">
            <a:spAutoFit/>
          </a:bodyPr>
          <a:lstStyle/>
          <a:p>
            <a:endParaRPr lang="en-US" dirty="0"/>
          </a:p>
          <a:p>
            <a:endParaRPr lang="en-US" dirty="0"/>
          </a:p>
          <a:p>
            <a:endParaRPr lang="en-IN" dirty="0"/>
          </a:p>
        </p:txBody>
      </p:sp>
      <p:sp>
        <p:nvSpPr>
          <p:cNvPr id="13" name="TextBox 12">
            <a:extLst>
              <a:ext uri="{FF2B5EF4-FFF2-40B4-BE49-F238E27FC236}">
                <a16:creationId xmlns:a16="http://schemas.microsoft.com/office/drawing/2014/main" id="{F17A638B-FD51-7138-82BA-0ED3D55EB99C}"/>
              </a:ext>
            </a:extLst>
          </p:cNvPr>
          <p:cNvSpPr txBox="1"/>
          <p:nvPr/>
        </p:nvSpPr>
        <p:spPr>
          <a:xfrm>
            <a:off x="647280" y="1784967"/>
            <a:ext cx="11141947"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The objective of an IoT-based water quality monitoring system is to provide continuous, real-time monitoring of water quality to ensure it meets safety and health standards . It Aims To </a:t>
            </a:r>
          </a:p>
        </p:txBody>
      </p:sp>
      <p:pic>
        <p:nvPicPr>
          <p:cNvPr id="3" name="Picture 1">
            <a:extLst>
              <a:ext uri="{FF2B5EF4-FFF2-40B4-BE49-F238E27FC236}">
                <a16:creationId xmlns:a16="http://schemas.microsoft.com/office/drawing/2014/main" id="{72534AAA-804B-2240-6490-8D9DE6A089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88540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DB44E06-2E37-A333-0962-6328CC374FC2}"/>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3" name="TextBox 2">
            <a:extLst>
              <a:ext uri="{FF2B5EF4-FFF2-40B4-BE49-F238E27FC236}">
                <a16:creationId xmlns:a16="http://schemas.microsoft.com/office/drawing/2014/main" id="{F73DED21-F8C1-E26C-F52C-A38DB8FCEB52}"/>
              </a:ext>
            </a:extLst>
          </p:cNvPr>
          <p:cNvSpPr txBox="1"/>
          <p:nvPr/>
        </p:nvSpPr>
        <p:spPr>
          <a:xfrm>
            <a:off x="3356148" y="482321"/>
            <a:ext cx="4883499" cy="400110"/>
          </a:xfrm>
          <a:prstGeom prst="rect">
            <a:avLst/>
          </a:prstGeom>
          <a:noFill/>
        </p:spPr>
        <p:txBody>
          <a:bodyPr wrap="square" rtlCol="0">
            <a:spAutoFit/>
          </a:bodyPr>
          <a:lstStyle/>
          <a:p>
            <a:pPr algn="ctr"/>
            <a:r>
              <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EXISTING METHOD</a:t>
            </a:r>
          </a:p>
        </p:txBody>
      </p:sp>
      <p:sp>
        <p:nvSpPr>
          <p:cNvPr id="2" name="TextBox 1">
            <a:extLst>
              <a:ext uri="{FF2B5EF4-FFF2-40B4-BE49-F238E27FC236}">
                <a16:creationId xmlns:a16="http://schemas.microsoft.com/office/drawing/2014/main" id="{B9AC3237-1975-DC66-3D35-4EAB2A194E32}"/>
              </a:ext>
            </a:extLst>
          </p:cNvPr>
          <p:cNvSpPr txBox="1"/>
          <p:nvPr/>
        </p:nvSpPr>
        <p:spPr>
          <a:xfrm>
            <a:off x="422029" y="1294414"/>
            <a:ext cx="10751736" cy="3046988"/>
          </a:xfrm>
          <a:prstGeom prst="rect">
            <a:avLst/>
          </a:prstGeom>
          <a:noFill/>
        </p:spPr>
        <p:txBody>
          <a:bodyPr wrap="square" rtlCol="0">
            <a:spAutoFit/>
          </a:bodyPr>
          <a:lstStyle/>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term "existing method" refers to the current or commonly used techniques, processes, or approaches that are already in place for achieving a particular goal. Existing methods of IoT-based water quality monitoring systems use a combination of sensors, wireless communication, and cloud-based data processing to keep track of water quality in real-time. Here's how they typically work:</a:t>
            </a:r>
          </a:p>
          <a:p>
            <a:pPr marL="342900" indent="-34290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Sensors:</a:t>
            </a:r>
            <a:r>
              <a:rPr lang="en-US" sz="1600" dirty="0">
                <a:latin typeface="Times New Roman" panose="02020603050405020304" pitchFamily="18" charset="0"/>
                <a:cs typeface="Times New Roman" panose="02020603050405020304" pitchFamily="18" charset="0"/>
              </a:rPr>
              <a:t> These systems use a variety of sensors to measure key water quality parameters such as pH, temperature, turbidity (how clear the water is), dissolved oxygen, and the presence of harmful chemicals. These sensors are placed directly in water sources like rivers, lakes, reservoirs, or water treatment facilities.</a:t>
            </a:r>
          </a:p>
          <a:p>
            <a:endParaRPr lang="en-US" sz="16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Data Collection:</a:t>
            </a:r>
            <a:r>
              <a:rPr lang="en-US" sz="1600" dirty="0">
                <a:latin typeface="Times New Roman" panose="02020603050405020304" pitchFamily="18" charset="0"/>
                <a:cs typeface="Times New Roman" panose="02020603050405020304" pitchFamily="18" charset="0"/>
              </a:rPr>
              <a:t> The sensors continuously collect data and send it to a central processing unit, often a microcontroller or an IoT-enabled device. This device processes the data locally before sending it over the internet to a cloud server for further analysis.</a:t>
            </a:r>
            <a:endParaRPr lang="en-IN" sz="1600" dirty="0">
              <a:latin typeface="Times New Roman" panose="02020603050405020304" pitchFamily="18" charset="0"/>
              <a:cs typeface="Times New Roman" panose="02020603050405020304" pitchFamily="18" charset="0"/>
            </a:endParaRPr>
          </a:p>
        </p:txBody>
      </p:sp>
      <p:pic>
        <p:nvPicPr>
          <p:cNvPr id="4" name="Picture 1">
            <a:extLst>
              <a:ext uri="{FF2B5EF4-FFF2-40B4-BE49-F238E27FC236}">
                <a16:creationId xmlns:a16="http://schemas.microsoft.com/office/drawing/2014/main" id="{A9CBBF3F-6479-3E2A-71C9-FFC1A84ACC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BCFB0D4B-8ECF-5E81-1B58-68535F447184}"/>
              </a:ext>
            </a:extLst>
          </p:cNvPr>
          <p:cNvPicPr>
            <a:picLocks noChangeAspect="1"/>
          </p:cNvPicPr>
          <p:nvPr/>
        </p:nvPicPr>
        <p:blipFill>
          <a:blip r:embed="rId3"/>
          <a:stretch>
            <a:fillRect/>
          </a:stretch>
        </p:blipFill>
        <p:spPr>
          <a:xfrm>
            <a:off x="3190350" y="4329539"/>
            <a:ext cx="5215093" cy="2077698"/>
          </a:xfrm>
          <a:prstGeom prst="rect">
            <a:avLst/>
          </a:prstGeom>
          <a:ln w="60325">
            <a:solidFill>
              <a:schemeClr val="accent1"/>
            </a:solidFill>
          </a:ln>
        </p:spPr>
      </p:pic>
    </p:spTree>
    <p:extLst>
      <p:ext uri="{BB962C8B-B14F-4D97-AF65-F5344CB8AC3E}">
        <p14:creationId xmlns:p14="http://schemas.microsoft.com/office/powerpoint/2010/main" val="21366499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0CCD0CC-CAF8-23DB-C944-DE58849239FE}"/>
              </a:ext>
            </a:extLst>
          </p:cNvPr>
          <p:cNvSpPr/>
          <p:nvPr/>
        </p:nvSpPr>
        <p:spPr>
          <a:xfrm>
            <a:off x="140677" y="70337"/>
            <a:ext cx="11927393" cy="6702252"/>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3" name="TextBox 2">
            <a:extLst>
              <a:ext uri="{FF2B5EF4-FFF2-40B4-BE49-F238E27FC236}">
                <a16:creationId xmlns:a16="http://schemas.microsoft.com/office/drawing/2014/main" id="{F73DED21-F8C1-E26C-F52C-A38DB8FCEB52}"/>
              </a:ext>
            </a:extLst>
          </p:cNvPr>
          <p:cNvSpPr txBox="1"/>
          <p:nvPr/>
        </p:nvSpPr>
        <p:spPr>
          <a:xfrm>
            <a:off x="3654250" y="448097"/>
            <a:ext cx="4883499" cy="400110"/>
          </a:xfrm>
          <a:prstGeom prst="rect">
            <a:avLst/>
          </a:prstGeom>
          <a:noFill/>
        </p:spPr>
        <p:txBody>
          <a:bodyPr wrap="square" rtlCol="0">
            <a:spAutoFit/>
          </a:bodyPr>
          <a:lstStyle/>
          <a:p>
            <a:pPr algn="ctr"/>
            <a:r>
              <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PROPOSED METHOD</a:t>
            </a:r>
          </a:p>
        </p:txBody>
      </p:sp>
      <p:sp>
        <p:nvSpPr>
          <p:cNvPr id="2" name="TextBox 1">
            <a:extLst>
              <a:ext uri="{FF2B5EF4-FFF2-40B4-BE49-F238E27FC236}">
                <a16:creationId xmlns:a16="http://schemas.microsoft.com/office/drawing/2014/main" id="{B9AC3237-1975-DC66-3D35-4EAB2A194E32}"/>
              </a:ext>
            </a:extLst>
          </p:cNvPr>
          <p:cNvSpPr txBox="1"/>
          <p:nvPr/>
        </p:nvSpPr>
        <p:spPr>
          <a:xfrm>
            <a:off x="298993" y="848207"/>
            <a:ext cx="11517868" cy="5755422"/>
          </a:xfrm>
          <a:prstGeom prst="rect">
            <a:avLst/>
          </a:prstGeom>
          <a:noFill/>
        </p:spPr>
        <p:txBody>
          <a:bodyPr wrap="square" rtlCol="0">
            <a:spAutoFit/>
          </a:bodyPr>
          <a:lstStyle/>
          <a:p>
            <a:pPr marL="342900" indent="-34290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System Components:</a:t>
            </a:r>
          </a:p>
          <a:p>
            <a:pPr marL="342900" indent="-34290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Sensors: pH, Temperature,  and Total Dissolved Solids (TDS) sensors.</a:t>
            </a:r>
          </a:p>
          <a:p>
            <a:pPr marL="342900" indent="-34290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Microcontroller: ESP 32</a:t>
            </a:r>
          </a:p>
          <a:p>
            <a:pPr marL="342900" indent="-34290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Communication Module: WIFI </a:t>
            </a:r>
            <a:r>
              <a:rPr lang="en-IN" sz="1400" dirty="0">
                <a:latin typeface="Times New Roman" panose="02020603050405020304" pitchFamily="18" charset="0"/>
                <a:cs typeface="Times New Roman" panose="02020603050405020304" pitchFamily="18" charset="0"/>
              </a:rPr>
              <a:t>or</a:t>
            </a:r>
            <a:r>
              <a:rPr lang="en-IN" sz="1600" dirty="0">
                <a:latin typeface="Times New Roman" panose="02020603050405020304" pitchFamily="18" charset="0"/>
                <a:cs typeface="Times New Roman" panose="02020603050405020304" pitchFamily="18" charset="0"/>
              </a:rPr>
              <a:t> B</a:t>
            </a:r>
            <a:r>
              <a:rPr lang="en-IN" sz="1400" dirty="0">
                <a:latin typeface="Times New Roman" panose="02020603050405020304" pitchFamily="18" charset="0"/>
                <a:cs typeface="Times New Roman" panose="02020603050405020304" pitchFamily="18" charset="0"/>
              </a:rPr>
              <a:t>luetooth</a:t>
            </a:r>
            <a:endParaRPr lang="en-IN" sz="16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Cloud Platform: IoT platform Blynk server(e.g., </a:t>
            </a:r>
            <a:r>
              <a:rPr lang="en-IN" sz="1600" dirty="0" err="1">
                <a:latin typeface="Times New Roman" panose="02020603050405020304" pitchFamily="18" charset="0"/>
                <a:cs typeface="Times New Roman" panose="02020603050405020304" pitchFamily="18" charset="0"/>
              </a:rPr>
              <a:t>ThingSpeak</a:t>
            </a:r>
            <a:r>
              <a:rPr lang="en-IN" sz="1600" dirty="0">
                <a:latin typeface="Times New Roman" panose="02020603050405020304" pitchFamily="18" charset="0"/>
                <a:cs typeface="Times New Roman" panose="02020603050405020304" pitchFamily="18" charset="0"/>
              </a:rPr>
              <a:t>, AWS IoT, or Google Cloud IoT Core) for data storage, analysis, and visualization.</a:t>
            </a:r>
          </a:p>
          <a:p>
            <a:pPr marL="342900" indent="-34290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Alert System: SMS or email notification system for alerts and warnings.</a:t>
            </a:r>
          </a:p>
          <a:p>
            <a:pPr marL="342900" indent="-34290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Methodology:</a:t>
            </a:r>
          </a:p>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Sensor Deployment: Install sensors in the water body or distribution network.</a:t>
            </a:r>
          </a:p>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Data Collection: Sensors transmit data to the microcontroller at regular intervals.</a:t>
            </a:r>
          </a:p>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Data Processing: Microcontroller processes data, performs calculations (e.g., water quality index), and sends data to the cloud platform.</a:t>
            </a:r>
          </a:p>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Data Visualization: Cloud platform displays real-time data, historical trends, and water quality indexes.</a:t>
            </a:r>
          </a:p>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Alert Generation: System generates alerts when water quality parameters exceed predefined thresholds.</a:t>
            </a:r>
          </a:p>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Notification: Alert system sends notifications to authorities, stakeholders, or the public via SMS or email.</a:t>
            </a:r>
          </a:p>
          <a:p>
            <a:pPr marL="342900" indent="-342900">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Benefits:</a:t>
            </a:r>
          </a:p>
          <a:p>
            <a:r>
              <a:rPr lang="en-US" sz="1600" dirty="0">
                <a:latin typeface="Times New Roman" panose="02020603050405020304" pitchFamily="18" charset="0"/>
                <a:cs typeface="Times New Roman" panose="02020603050405020304" pitchFamily="18" charset="0"/>
              </a:rPr>
              <a:t>1. Real-time Monitoring: Instantaneous water quality monitoring and alerts.</a:t>
            </a:r>
          </a:p>
          <a:p>
            <a:r>
              <a:rPr lang="en-US" sz="1600" dirty="0">
                <a:latin typeface="Times New Roman" panose="02020603050405020304" pitchFamily="18" charset="0"/>
                <a:cs typeface="Times New Roman" panose="02020603050405020304" pitchFamily="18" charset="0"/>
              </a:rPr>
              <a:t>2. Improved Decision Making: Data-driven decisions for water management and treatment.</a:t>
            </a:r>
          </a:p>
          <a:p>
            <a:r>
              <a:rPr lang="en-US" sz="1600" dirty="0">
                <a:latin typeface="Times New Roman" panose="02020603050405020304" pitchFamily="18" charset="0"/>
                <a:cs typeface="Times New Roman" panose="02020603050405020304" pitchFamily="18" charset="0"/>
              </a:rPr>
              <a:t>3. Public Health Protection: Early warnings for waterborne diseases and contaminants.</a:t>
            </a:r>
          </a:p>
          <a:p>
            <a:r>
              <a:rPr lang="en-US" sz="1600" dirty="0">
                <a:latin typeface="Times New Roman" panose="02020603050405020304" pitchFamily="18" charset="0"/>
                <a:cs typeface="Times New Roman" panose="02020603050405020304" pitchFamily="18" charset="0"/>
              </a:rPr>
              <a:t>4. Optimized Treatment: Real-time data for optimized water treatment processes.</a:t>
            </a:r>
          </a:p>
          <a:p>
            <a:r>
              <a:rPr lang="en-US" sz="1600" dirty="0">
                <a:latin typeface="Times New Roman" panose="02020603050405020304" pitchFamily="18" charset="0"/>
                <a:cs typeface="Times New Roman" panose="02020603050405020304" pitchFamily="18" charset="0"/>
              </a:rPr>
              <a:t>5. Increased Transparency: Public access to water quality information.</a:t>
            </a:r>
            <a:endParaRPr lang="en-IN" sz="1600" dirty="0">
              <a:latin typeface="Times New Roman" panose="02020603050405020304" pitchFamily="18" charset="0"/>
              <a:cs typeface="Times New Roman" panose="02020603050405020304" pitchFamily="18" charset="0"/>
            </a:endParaRPr>
          </a:p>
        </p:txBody>
      </p:sp>
      <p:pic>
        <p:nvPicPr>
          <p:cNvPr id="4" name="Picture 1">
            <a:extLst>
              <a:ext uri="{FF2B5EF4-FFF2-40B4-BE49-F238E27FC236}">
                <a16:creationId xmlns:a16="http://schemas.microsoft.com/office/drawing/2014/main" id="{514B14BF-7FD9-E74E-4572-A402BB3D41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82199D42-4C24-8C54-A8DB-F90E2B24ED06}"/>
              </a:ext>
            </a:extLst>
          </p:cNvPr>
          <p:cNvPicPr>
            <a:picLocks noChangeAspect="1"/>
          </p:cNvPicPr>
          <p:nvPr/>
        </p:nvPicPr>
        <p:blipFill>
          <a:blip r:embed="rId3"/>
          <a:stretch>
            <a:fillRect/>
          </a:stretch>
        </p:blipFill>
        <p:spPr>
          <a:xfrm>
            <a:off x="8420519" y="4820138"/>
            <a:ext cx="3195376" cy="1755457"/>
          </a:xfrm>
          <a:prstGeom prst="rect">
            <a:avLst/>
          </a:prstGeom>
          <a:ln w="41275">
            <a:solidFill>
              <a:schemeClr val="accent1"/>
            </a:solidFill>
          </a:ln>
        </p:spPr>
      </p:pic>
    </p:spTree>
    <p:extLst>
      <p:ext uri="{BB962C8B-B14F-4D97-AF65-F5344CB8AC3E}">
        <p14:creationId xmlns:p14="http://schemas.microsoft.com/office/powerpoint/2010/main" val="29395741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8CC503D-F6E4-AA67-2EAF-3CF038DFAE02}"/>
              </a:ext>
            </a:extLst>
          </p:cNvPr>
          <p:cNvSpPr/>
          <p:nvPr/>
        </p:nvSpPr>
        <p:spPr>
          <a:xfrm>
            <a:off x="1768509" y="1642904"/>
            <a:ext cx="1135464" cy="602901"/>
          </a:xfrm>
          <a:prstGeom prst="rect">
            <a:avLst/>
          </a:prstGeom>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Times New Roman" panose="02020603050405020304" pitchFamily="18" charset="0"/>
                <a:cs typeface="Times New Roman" panose="02020603050405020304" pitchFamily="18" charset="0"/>
              </a:rPr>
              <a:t>230V</a:t>
            </a:r>
            <a:endParaRPr lang="en-IN" sz="1400" b="1"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71FCAECE-B5BE-1614-2547-556D7CE82ADC}"/>
              </a:ext>
            </a:extLst>
          </p:cNvPr>
          <p:cNvSpPr/>
          <p:nvPr/>
        </p:nvSpPr>
        <p:spPr>
          <a:xfrm>
            <a:off x="3595634" y="1642905"/>
            <a:ext cx="1587640" cy="602901"/>
          </a:xfrm>
          <a:prstGeom prst="rect">
            <a:avLst/>
          </a:prstGeom>
          <a:solidFill>
            <a:srgbClr val="92D050"/>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Times New Roman" panose="02020603050405020304" pitchFamily="18" charset="0"/>
                <a:cs typeface="Times New Roman" panose="02020603050405020304" pitchFamily="18" charset="0"/>
              </a:rPr>
              <a:t>5V ADAPTER</a:t>
            </a:r>
            <a:endParaRPr lang="en-IN" sz="1400" b="1"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080D86B8-4357-55EB-472C-C41E058D9246}"/>
              </a:ext>
            </a:extLst>
          </p:cNvPr>
          <p:cNvSpPr/>
          <p:nvPr/>
        </p:nvSpPr>
        <p:spPr>
          <a:xfrm>
            <a:off x="6571621" y="1135464"/>
            <a:ext cx="1771861" cy="5526593"/>
          </a:xfrm>
          <a:prstGeom prst="roundRect">
            <a:avLst/>
          </a:prstGeom>
          <a:solidFill>
            <a:srgbClr val="00B0F0"/>
          </a:solid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ESP32</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5B94863-279F-8F0C-EC7F-3E0882DD46AE}"/>
              </a:ext>
            </a:extLst>
          </p:cNvPr>
          <p:cNvSpPr/>
          <p:nvPr/>
        </p:nvSpPr>
        <p:spPr>
          <a:xfrm>
            <a:off x="3582237" y="2911069"/>
            <a:ext cx="1587640" cy="914400"/>
          </a:xfrm>
          <a:prstGeom prst="rect">
            <a:avLst/>
          </a:prstGeom>
          <a:solidFill>
            <a:srgbClr val="FFC000"/>
          </a:solidFill>
          <a:ln w="381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Times New Roman" panose="02020603050405020304" pitchFamily="18" charset="0"/>
                <a:cs typeface="Times New Roman" panose="02020603050405020304" pitchFamily="18" charset="0"/>
              </a:rPr>
              <a:t>TEMPERCTURE SENSOR</a:t>
            </a:r>
            <a:endParaRPr lang="en-IN" sz="1400" b="1"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8DBCBC23-4FCF-114D-788E-21E5D525622F}"/>
              </a:ext>
            </a:extLst>
          </p:cNvPr>
          <p:cNvSpPr/>
          <p:nvPr/>
        </p:nvSpPr>
        <p:spPr>
          <a:xfrm>
            <a:off x="3595633" y="4451420"/>
            <a:ext cx="1574243" cy="914400"/>
          </a:xfrm>
          <a:prstGeom prst="rect">
            <a:avLst/>
          </a:prstGeom>
          <a:solidFill>
            <a:srgbClr val="FF0000"/>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Times New Roman" panose="02020603050405020304" pitchFamily="18" charset="0"/>
                <a:cs typeface="Times New Roman" panose="02020603050405020304" pitchFamily="18" charset="0"/>
              </a:rPr>
              <a:t>PH SENSOR</a:t>
            </a:r>
            <a:endParaRPr lang="en-IN" sz="1400" b="1"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425005AC-46E9-7533-83D8-D52C65D0CE85}"/>
              </a:ext>
            </a:extLst>
          </p:cNvPr>
          <p:cNvSpPr/>
          <p:nvPr/>
        </p:nvSpPr>
        <p:spPr>
          <a:xfrm>
            <a:off x="3582236" y="5747657"/>
            <a:ext cx="1587640" cy="914400"/>
          </a:xfrm>
          <a:prstGeom prst="rect">
            <a:avLst/>
          </a:prstGeom>
          <a:solidFill>
            <a:srgbClr val="00B050"/>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Times New Roman" panose="02020603050405020304" pitchFamily="18" charset="0"/>
                <a:cs typeface="Times New Roman" panose="02020603050405020304" pitchFamily="18" charset="0"/>
              </a:rPr>
              <a:t>TDS SENSOR</a:t>
            </a:r>
            <a:endParaRPr lang="en-IN" sz="1400" b="1"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7C4CC4B3-1755-BEF1-C8E4-58DA868AB909}"/>
              </a:ext>
            </a:extLst>
          </p:cNvPr>
          <p:cNvSpPr/>
          <p:nvPr/>
        </p:nvSpPr>
        <p:spPr>
          <a:xfrm>
            <a:off x="9241971" y="3441561"/>
            <a:ext cx="1006509" cy="914400"/>
          </a:xfrm>
          <a:prstGeom prst="rect">
            <a:avLst/>
          </a:prstGeom>
          <a:solidFill>
            <a:srgbClr val="7030A0"/>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Times New Roman" panose="02020603050405020304" pitchFamily="18" charset="0"/>
                <a:cs typeface="Times New Roman" panose="02020603050405020304" pitchFamily="18" charset="0"/>
              </a:rPr>
              <a:t>BLYNK SERVER</a:t>
            </a:r>
            <a:endParaRPr lang="en-IN" sz="1400" b="1" dirty="0">
              <a:latin typeface="Times New Roman" panose="02020603050405020304" pitchFamily="18" charset="0"/>
              <a:cs typeface="Times New Roman" panose="02020603050405020304" pitchFamily="18" charset="0"/>
            </a:endParaRPr>
          </a:p>
        </p:txBody>
      </p:sp>
      <p:cxnSp>
        <p:nvCxnSpPr>
          <p:cNvPr id="19" name="Straight Arrow Connector 18">
            <a:extLst>
              <a:ext uri="{FF2B5EF4-FFF2-40B4-BE49-F238E27FC236}">
                <a16:creationId xmlns:a16="http://schemas.microsoft.com/office/drawing/2014/main" id="{7C956672-F5DE-03F7-448E-92585F57F238}"/>
              </a:ext>
            </a:extLst>
          </p:cNvPr>
          <p:cNvCxnSpPr>
            <a:cxnSpLocks/>
            <a:stCxn id="7" idx="3"/>
            <a:endCxn id="8" idx="1"/>
          </p:cNvCxnSpPr>
          <p:nvPr/>
        </p:nvCxnSpPr>
        <p:spPr>
          <a:xfrm>
            <a:off x="2903973" y="1944355"/>
            <a:ext cx="691661" cy="1"/>
          </a:xfrm>
          <a:prstGeom prst="straightConnector1">
            <a:avLst/>
          </a:prstGeom>
          <a:ln w="317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52474B88-5C3D-BD53-7AD9-F377D579DE8C}"/>
              </a:ext>
            </a:extLst>
          </p:cNvPr>
          <p:cNvCxnSpPr>
            <a:cxnSpLocks/>
          </p:cNvCxnSpPr>
          <p:nvPr/>
        </p:nvCxnSpPr>
        <p:spPr>
          <a:xfrm>
            <a:off x="5183274" y="1929285"/>
            <a:ext cx="1388347" cy="0"/>
          </a:xfrm>
          <a:prstGeom prst="straightConnector1">
            <a:avLst/>
          </a:prstGeom>
          <a:ln w="317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A247C899-6589-D2CF-6956-0402B7042EAD}"/>
              </a:ext>
            </a:extLst>
          </p:cNvPr>
          <p:cNvCxnSpPr>
            <a:cxnSpLocks/>
          </p:cNvCxnSpPr>
          <p:nvPr/>
        </p:nvCxnSpPr>
        <p:spPr>
          <a:xfrm>
            <a:off x="5183274" y="3380434"/>
            <a:ext cx="1388347" cy="0"/>
          </a:xfrm>
          <a:prstGeom prst="straightConnector1">
            <a:avLst/>
          </a:prstGeom>
          <a:ln w="317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CAFF2F77-44A9-3E21-CAAD-001907CCC497}"/>
              </a:ext>
            </a:extLst>
          </p:cNvPr>
          <p:cNvCxnSpPr>
            <a:cxnSpLocks/>
          </p:cNvCxnSpPr>
          <p:nvPr/>
        </p:nvCxnSpPr>
        <p:spPr>
          <a:xfrm>
            <a:off x="5183274" y="4855031"/>
            <a:ext cx="1388347" cy="0"/>
          </a:xfrm>
          <a:prstGeom prst="straightConnector1">
            <a:avLst/>
          </a:prstGeom>
          <a:ln w="317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64402D30-D314-0DA4-96E5-E6AE5028F1C9}"/>
              </a:ext>
            </a:extLst>
          </p:cNvPr>
          <p:cNvCxnSpPr>
            <a:cxnSpLocks/>
          </p:cNvCxnSpPr>
          <p:nvPr/>
        </p:nvCxnSpPr>
        <p:spPr>
          <a:xfrm>
            <a:off x="5183274" y="6271847"/>
            <a:ext cx="1388347" cy="0"/>
          </a:xfrm>
          <a:prstGeom prst="straightConnector1">
            <a:avLst/>
          </a:prstGeom>
          <a:ln w="317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FBEB6080-3A84-BFC1-3819-72E25A95D2F6}"/>
              </a:ext>
            </a:extLst>
          </p:cNvPr>
          <p:cNvCxnSpPr>
            <a:cxnSpLocks/>
          </p:cNvCxnSpPr>
          <p:nvPr/>
        </p:nvCxnSpPr>
        <p:spPr>
          <a:xfrm>
            <a:off x="8343482" y="3825469"/>
            <a:ext cx="864313" cy="0"/>
          </a:xfrm>
          <a:prstGeom prst="straightConnector1">
            <a:avLst/>
          </a:prstGeom>
          <a:ln w="317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92001C16-EF55-C466-D1E9-A33CFE52E578}"/>
              </a:ext>
            </a:extLst>
          </p:cNvPr>
          <p:cNvSpPr txBox="1"/>
          <p:nvPr/>
        </p:nvSpPr>
        <p:spPr>
          <a:xfrm>
            <a:off x="4202721" y="351609"/>
            <a:ext cx="3349451" cy="369332"/>
          </a:xfrm>
          <a:prstGeom prst="rect">
            <a:avLst/>
          </a:prstGeom>
          <a:noFill/>
        </p:spPr>
        <p:txBody>
          <a:bodyPr wrap="square">
            <a:spAutoFit/>
          </a:bodyPr>
          <a:lstStyle/>
          <a:p>
            <a:pPr algn="ctr"/>
            <a:r>
              <a:rPr lang="en-IN"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BLOCK DIAGRAM:-</a:t>
            </a:r>
          </a:p>
        </p:txBody>
      </p:sp>
      <p:sp>
        <p:nvSpPr>
          <p:cNvPr id="16" name="Rectangle 15">
            <a:extLst>
              <a:ext uri="{FF2B5EF4-FFF2-40B4-BE49-F238E27FC236}">
                <a16:creationId xmlns:a16="http://schemas.microsoft.com/office/drawing/2014/main" id="{C63E87DD-D6DF-D8A2-D375-AEEC21F9712B}"/>
              </a:ext>
            </a:extLst>
          </p:cNvPr>
          <p:cNvSpPr/>
          <p:nvPr/>
        </p:nvSpPr>
        <p:spPr>
          <a:xfrm>
            <a:off x="140677" y="70337"/>
            <a:ext cx="11927393" cy="6702252"/>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pic>
        <p:nvPicPr>
          <p:cNvPr id="17" name="Picture 1">
            <a:extLst>
              <a:ext uri="{FF2B5EF4-FFF2-40B4-BE49-F238E27FC236}">
                <a16:creationId xmlns:a16="http://schemas.microsoft.com/office/drawing/2014/main" id="{23D7F7B0-6E0A-6CD2-A4C9-2D7FF65FF5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0703" y="188895"/>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loud 5">
            <a:extLst>
              <a:ext uri="{FF2B5EF4-FFF2-40B4-BE49-F238E27FC236}">
                <a16:creationId xmlns:a16="http://schemas.microsoft.com/office/drawing/2014/main" id="{971DC227-F06F-12C3-FD91-F5B2644F4332}"/>
              </a:ext>
            </a:extLst>
          </p:cNvPr>
          <p:cNvSpPr/>
          <p:nvPr/>
        </p:nvSpPr>
        <p:spPr>
          <a:xfrm>
            <a:off x="8939703" y="1439212"/>
            <a:ext cx="1584251" cy="1388073"/>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Cloud platform</a:t>
            </a:r>
            <a:endParaRPr lang="en-IN" dirty="0"/>
          </a:p>
        </p:txBody>
      </p:sp>
      <p:cxnSp>
        <p:nvCxnSpPr>
          <p:cNvPr id="18" name="Straight Arrow Connector 17">
            <a:extLst>
              <a:ext uri="{FF2B5EF4-FFF2-40B4-BE49-F238E27FC236}">
                <a16:creationId xmlns:a16="http://schemas.microsoft.com/office/drawing/2014/main" id="{019391C5-4831-58A8-40CC-7036945545C1}"/>
              </a:ext>
            </a:extLst>
          </p:cNvPr>
          <p:cNvCxnSpPr>
            <a:cxnSpLocks/>
          </p:cNvCxnSpPr>
          <p:nvPr/>
        </p:nvCxnSpPr>
        <p:spPr>
          <a:xfrm>
            <a:off x="10523954" y="2035611"/>
            <a:ext cx="53953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AE3B30E-F047-33FE-F6E2-96F72962460A}"/>
              </a:ext>
            </a:extLst>
          </p:cNvPr>
          <p:cNvCxnSpPr>
            <a:cxnSpLocks/>
          </p:cNvCxnSpPr>
          <p:nvPr/>
        </p:nvCxnSpPr>
        <p:spPr>
          <a:xfrm flipV="1">
            <a:off x="9831164" y="2866528"/>
            <a:ext cx="0" cy="51390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03B55A2D-CBF2-DA77-F983-3DFB49965312}"/>
              </a:ext>
            </a:extLst>
          </p:cNvPr>
          <p:cNvSpPr/>
          <p:nvPr/>
        </p:nvSpPr>
        <p:spPr>
          <a:xfrm>
            <a:off x="11074818" y="1448402"/>
            <a:ext cx="808462" cy="11744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Phone</a:t>
            </a:r>
            <a:endParaRPr lang="en-IN" dirty="0"/>
          </a:p>
        </p:txBody>
      </p:sp>
    </p:spTree>
    <p:extLst>
      <p:ext uri="{BB962C8B-B14F-4D97-AF65-F5344CB8AC3E}">
        <p14:creationId xmlns:p14="http://schemas.microsoft.com/office/powerpoint/2010/main" val="11013605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ECC1669-99E3-75B5-597F-586E5FAE4994}"/>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2CD7F7E3-4C58-63A1-E96C-79318F240D95}"/>
              </a:ext>
            </a:extLst>
          </p:cNvPr>
          <p:cNvSpPr txBox="1"/>
          <p:nvPr/>
        </p:nvSpPr>
        <p:spPr>
          <a:xfrm>
            <a:off x="3597310" y="502418"/>
            <a:ext cx="5184949" cy="400110"/>
          </a:xfrm>
          <a:prstGeom prst="rect">
            <a:avLst/>
          </a:prstGeom>
          <a:noFill/>
        </p:spPr>
        <p:txBody>
          <a:bodyPr wrap="square" rtlCol="0">
            <a:spAutoFit/>
          </a:bodyPr>
          <a:lstStyle/>
          <a:p>
            <a:r>
              <a:rPr lang="en-US"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EXPLANATION OF PROPOSED WORK</a:t>
            </a:r>
            <a:endPar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9157490-4FD0-85BC-5BEF-A7607EEC7EA6}"/>
              </a:ext>
            </a:extLst>
          </p:cNvPr>
          <p:cNvSpPr txBox="1"/>
          <p:nvPr/>
        </p:nvSpPr>
        <p:spPr>
          <a:xfrm>
            <a:off x="723036" y="1688123"/>
            <a:ext cx="10745928" cy="3293209"/>
          </a:xfrm>
          <a:prstGeom prst="rect">
            <a:avLst/>
          </a:prstGeom>
          <a:noFill/>
        </p:spPr>
        <p:txBody>
          <a:bodyPr wrap="square" rtlCol="0">
            <a:spAutoFit/>
          </a:bodyPr>
          <a:lstStyle/>
          <a:p>
            <a:pPr marL="342900" indent="-342900">
              <a:buAutoNum type="arabicPeriod"/>
            </a:pPr>
            <a:r>
              <a:rPr lang="en-IN" sz="1600" b="1" dirty="0">
                <a:latin typeface="Times New Roman" panose="02020603050405020304" pitchFamily="18" charset="0"/>
                <a:cs typeface="Times New Roman" panose="02020603050405020304" pitchFamily="18" charset="0"/>
              </a:rPr>
              <a:t>Sensor Deployment: </a:t>
            </a:r>
            <a:r>
              <a:rPr lang="en-IN" sz="1600" dirty="0">
                <a:latin typeface="Times New Roman" panose="02020603050405020304" pitchFamily="18" charset="0"/>
                <a:cs typeface="Times New Roman" panose="02020603050405020304" pitchFamily="18" charset="0"/>
              </a:rPr>
              <a:t>Water quality sensors are installed in the water body or distribution network to measure parameters like pH, temperature, turbidity, conductivity, dissolved oxygen, and total dissolved solids.</a:t>
            </a:r>
          </a:p>
          <a:p>
            <a:pPr marL="342900" indent="-342900">
              <a:buFont typeface="+mj-lt"/>
              <a:buAutoNum type="arabicPeriod"/>
            </a:pPr>
            <a:endParaRPr lang="en-IN" sz="1600" b="1" dirty="0">
              <a:latin typeface="Times New Roman" panose="02020603050405020304" pitchFamily="18" charset="0"/>
              <a:cs typeface="Times New Roman" panose="02020603050405020304" pitchFamily="18" charset="0"/>
            </a:endParaRPr>
          </a:p>
          <a:p>
            <a:pPr marL="342900" indent="-342900">
              <a:buAutoNum type="arabicPeriod"/>
            </a:pPr>
            <a:r>
              <a:rPr lang="en-IN" sz="1600" b="1" dirty="0">
                <a:latin typeface="Times New Roman" panose="02020603050405020304" pitchFamily="18" charset="0"/>
                <a:cs typeface="Times New Roman" panose="02020603050405020304" pitchFamily="18" charset="0"/>
              </a:rPr>
              <a:t>Data Acquisition: </a:t>
            </a:r>
            <a:r>
              <a:rPr lang="en-IN" sz="1600" dirty="0">
                <a:latin typeface="Times New Roman" panose="02020603050405020304" pitchFamily="18" charset="0"/>
                <a:cs typeface="Times New Roman" panose="02020603050405020304" pitchFamily="18" charset="0"/>
              </a:rPr>
              <a:t>Sensors transmit data to a microcontroller or data logger at regular intervals (e.g., every 10-15 minutes).</a:t>
            </a:r>
          </a:p>
          <a:p>
            <a:pPr marL="342900" indent="-342900">
              <a:buFont typeface="+mj-lt"/>
              <a:buAutoNum type="arabicPeriod"/>
            </a:pPr>
            <a:endParaRPr lang="en-IN" sz="1600" b="1" dirty="0">
              <a:latin typeface="Times New Roman" panose="02020603050405020304" pitchFamily="18" charset="0"/>
              <a:cs typeface="Times New Roman" panose="02020603050405020304" pitchFamily="18" charset="0"/>
            </a:endParaRPr>
          </a:p>
          <a:p>
            <a:pPr marL="342900" indent="-342900">
              <a:buAutoNum type="arabicPeriod"/>
            </a:pPr>
            <a:r>
              <a:rPr lang="en-IN" sz="1600" b="1" dirty="0">
                <a:latin typeface="Times New Roman" panose="02020603050405020304" pitchFamily="18" charset="0"/>
                <a:cs typeface="Times New Roman" panose="02020603050405020304" pitchFamily="18" charset="0"/>
              </a:rPr>
              <a:t>Data Processing: </a:t>
            </a:r>
            <a:r>
              <a:rPr lang="en-IN" sz="1600" dirty="0">
                <a:latin typeface="Times New Roman" panose="02020603050405020304" pitchFamily="18" charset="0"/>
                <a:cs typeface="Times New Roman" panose="02020603050405020304" pitchFamily="18" charset="0"/>
              </a:rPr>
              <a:t>The microcontroller processes the data, performs calculations (e.g., water quality index), and formats it for transmission.</a:t>
            </a:r>
          </a:p>
          <a:p>
            <a:pPr marL="342900" indent="-342900">
              <a:buFont typeface="+mj-lt"/>
              <a:buAutoNum type="arabicPeriod"/>
            </a:pPr>
            <a:endParaRPr lang="en-IN" sz="1600" dirty="0">
              <a:latin typeface="Times New Roman" panose="02020603050405020304" pitchFamily="18" charset="0"/>
              <a:cs typeface="Times New Roman" panose="02020603050405020304" pitchFamily="18" charset="0"/>
            </a:endParaRPr>
          </a:p>
          <a:p>
            <a:pPr marL="342900" indent="-342900">
              <a:buAutoNum type="arabicPeriod"/>
            </a:pPr>
            <a:r>
              <a:rPr lang="en-IN" sz="1600" b="1" dirty="0">
                <a:latin typeface="Times New Roman" panose="02020603050405020304" pitchFamily="18" charset="0"/>
                <a:cs typeface="Times New Roman" panose="02020603050405020304" pitchFamily="18" charset="0"/>
              </a:rPr>
              <a:t>Data Transmission: </a:t>
            </a:r>
            <a:r>
              <a:rPr lang="en-IN" sz="1600" dirty="0">
                <a:latin typeface="Times New Roman" panose="02020603050405020304" pitchFamily="18" charset="0"/>
                <a:cs typeface="Times New Roman" panose="02020603050405020304" pitchFamily="18" charset="0"/>
              </a:rPr>
              <a:t>The processed data is sent to a cloud platform or server via a communication module (e.g., Wi-Fi, cellular, or </a:t>
            </a:r>
            <a:r>
              <a:rPr lang="en-IN" sz="1600" dirty="0" err="1">
                <a:latin typeface="Times New Roman" panose="02020603050405020304" pitchFamily="18" charset="0"/>
                <a:cs typeface="Times New Roman" panose="02020603050405020304" pitchFamily="18" charset="0"/>
              </a:rPr>
              <a:t>LoRaWAN</a:t>
            </a:r>
            <a:r>
              <a:rPr lang="en-IN" sz="1600" dirty="0">
                <a:latin typeface="Times New Roman" panose="02020603050405020304" pitchFamily="18" charset="0"/>
                <a:cs typeface="Times New Roman" panose="02020603050405020304" pitchFamily="18" charset="0"/>
              </a:rPr>
              <a:t>).</a:t>
            </a:r>
          </a:p>
          <a:p>
            <a:pPr marL="342900" indent="-342900">
              <a:buFont typeface="+mj-lt"/>
              <a:buAutoNum type="arabicPeriod"/>
            </a:pPr>
            <a:endParaRPr lang="en-IN" sz="1600" dirty="0">
              <a:latin typeface="Times New Roman" panose="02020603050405020304" pitchFamily="18" charset="0"/>
              <a:cs typeface="Times New Roman" panose="02020603050405020304" pitchFamily="18" charset="0"/>
            </a:endParaRPr>
          </a:p>
          <a:p>
            <a:pPr marL="342900" indent="-342900">
              <a:buAutoNum type="arabicPeriod"/>
            </a:pPr>
            <a:r>
              <a:rPr lang="en-US" sz="1600" b="1" dirty="0">
                <a:latin typeface="Times New Roman" panose="02020603050405020304" pitchFamily="18" charset="0"/>
                <a:cs typeface="Times New Roman" panose="02020603050405020304" pitchFamily="18" charset="0"/>
              </a:rPr>
              <a:t>Cloud Processing:</a:t>
            </a:r>
            <a:r>
              <a:rPr lang="en-US" sz="1600" dirty="0">
                <a:latin typeface="Times New Roman" panose="02020603050405020304" pitchFamily="18" charset="0"/>
                <a:cs typeface="Times New Roman" panose="02020603050405020304" pitchFamily="18" charset="0"/>
              </a:rPr>
              <a:t> The cloud platform stores, analyzes, and visualizes the data in real-time, using tools like dashboards, graphs, and maps.</a:t>
            </a:r>
          </a:p>
        </p:txBody>
      </p:sp>
      <p:pic>
        <p:nvPicPr>
          <p:cNvPr id="4" name="Picture 1">
            <a:extLst>
              <a:ext uri="{FF2B5EF4-FFF2-40B4-BE49-F238E27FC236}">
                <a16:creationId xmlns:a16="http://schemas.microsoft.com/office/drawing/2014/main" id="{DED53346-E83B-B2F6-7DA4-8FCC56106E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34034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FBED72-9D91-9FA9-544F-64AEDA2987B7}"/>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91C704A1-4777-8CB3-221B-FF88E2BD2803}"/>
              </a:ext>
            </a:extLst>
          </p:cNvPr>
          <p:cNvSpPr txBox="1"/>
          <p:nvPr/>
        </p:nvSpPr>
        <p:spPr>
          <a:xfrm>
            <a:off x="773722" y="1356527"/>
            <a:ext cx="10168933" cy="3785652"/>
          </a:xfrm>
          <a:prstGeom prst="rect">
            <a:avLst/>
          </a:prstGeom>
          <a:noFill/>
        </p:spPr>
        <p:txBody>
          <a:bodyPr wrap="square" rtlCol="0">
            <a:spAutoFit/>
          </a:bodyPr>
          <a:lstStyle/>
          <a:p>
            <a:pPr marL="342900" indent="-342900">
              <a:buFont typeface="+mj-lt"/>
              <a:buAutoNum type="arabicPeriod" startAt="6"/>
            </a:pPr>
            <a:r>
              <a:rPr lang="en-US" sz="1600" b="1" dirty="0">
                <a:latin typeface="Times New Roman" panose="02020603050405020304" pitchFamily="18" charset="0"/>
                <a:cs typeface="Times New Roman" panose="02020603050405020304" pitchFamily="18" charset="0"/>
              </a:rPr>
              <a:t>Alert Generation: </a:t>
            </a:r>
            <a:r>
              <a:rPr lang="en-US" sz="1600" dirty="0">
                <a:latin typeface="Times New Roman" panose="02020603050405020304" pitchFamily="18" charset="0"/>
                <a:cs typeface="Times New Roman" panose="02020603050405020304" pitchFamily="18" charset="0"/>
              </a:rPr>
              <a:t>The system generates alerts when water quality parameters exceed predefined thresholds or indicate abnormal conditions.</a:t>
            </a:r>
          </a:p>
          <a:p>
            <a:pPr marL="342900" indent="-342900">
              <a:buFont typeface="+mj-lt"/>
              <a:buAutoNum type="arabicPeriod" startAt="6"/>
            </a:pPr>
            <a:endParaRPr lang="en-US" sz="1600" dirty="0">
              <a:latin typeface="Times New Roman" panose="02020603050405020304" pitchFamily="18" charset="0"/>
              <a:cs typeface="Times New Roman" panose="02020603050405020304" pitchFamily="18" charset="0"/>
            </a:endParaRPr>
          </a:p>
          <a:p>
            <a:pPr marL="342900" indent="-342900">
              <a:buFont typeface="+mj-lt"/>
              <a:buAutoNum type="arabicPeriod" startAt="6"/>
            </a:pPr>
            <a:r>
              <a:rPr lang="en-US" sz="1600" b="1" dirty="0">
                <a:latin typeface="Times New Roman" panose="02020603050405020304" pitchFamily="18" charset="0"/>
                <a:cs typeface="Times New Roman" panose="02020603050405020304" pitchFamily="18" charset="0"/>
              </a:rPr>
              <a:t>Notification: </a:t>
            </a:r>
            <a:r>
              <a:rPr lang="en-US" sz="1600" dirty="0">
                <a:latin typeface="Times New Roman" panose="02020603050405020304" pitchFamily="18" charset="0"/>
                <a:cs typeface="Times New Roman" panose="02020603050405020304" pitchFamily="18" charset="0"/>
              </a:rPr>
              <a:t>Alerts are sent to authorities, stakeholders, or the public via SMS, email, or mobile apps.</a:t>
            </a:r>
          </a:p>
          <a:p>
            <a:pPr marL="342900" indent="-342900">
              <a:buFont typeface="+mj-lt"/>
              <a:buAutoNum type="arabicPeriod" startAt="6"/>
            </a:pPr>
            <a:endParaRPr lang="en-US" sz="1600" dirty="0">
              <a:latin typeface="Times New Roman" panose="02020603050405020304" pitchFamily="18" charset="0"/>
              <a:cs typeface="Times New Roman" panose="02020603050405020304" pitchFamily="18" charset="0"/>
            </a:endParaRPr>
          </a:p>
          <a:p>
            <a:pPr marL="342900" indent="-342900">
              <a:buFont typeface="+mj-lt"/>
              <a:buAutoNum type="arabicPeriod" startAt="6"/>
            </a:pPr>
            <a:r>
              <a:rPr lang="en-US" sz="1600" b="1" dirty="0">
                <a:latin typeface="Times New Roman" panose="02020603050405020304" pitchFamily="18" charset="0"/>
                <a:cs typeface="Times New Roman" panose="02020603050405020304" pitchFamily="18" charset="0"/>
              </a:rPr>
              <a:t>Data Storage: </a:t>
            </a:r>
            <a:r>
              <a:rPr lang="en-US" sz="1600" dirty="0">
                <a:latin typeface="Times New Roman" panose="02020603050405020304" pitchFamily="18" charset="0"/>
                <a:cs typeface="Times New Roman" panose="02020603050405020304" pitchFamily="18" charset="0"/>
              </a:rPr>
              <a:t>Historical data is stored in the cloud for future analysis, trend monitoring, and compliance reporting.</a:t>
            </a:r>
          </a:p>
          <a:p>
            <a:pPr marL="342900" indent="-342900">
              <a:buFont typeface="+mj-lt"/>
              <a:buAutoNum type="arabicPeriod" startAt="6"/>
            </a:pPr>
            <a:endParaRPr lang="en-US" sz="1600" dirty="0">
              <a:latin typeface="Times New Roman" panose="02020603050405020304" pitchFamily="18" charset="0"/>
              <a:cs typeface="Times New Roman" panose="02020603050405020304" pitchFamily="18" charset="0"/>
            </a:endParaRPr>
          </a:p>
          <a:p>
            <a:pPr marL="342900" indent="-342900">
              <a:buFont typeface="+mj-lt"/>
              <a:buAutoNum type="arabicPeriod" startAt="6"/>
            </a:pPr>
            <a:r>
              <a:rPr lang="en-US" sz="1600" b="1" dirty="0">
                <a:latin typeface="Times New Roman" panose="02020603050405020304" pitchFamily="18" charset="0"/>
                <a:cs typeface="Times New Roman" panose="02020603050405020304" pitchFamily="18" charset="0"/>
              </a:rPr>
              <a:t>Data Visualization: </a:t>
            </a:r>
            <a:r>
              <a:rPr lang="en-US" sz="1600" dirty="0">
                <a:latin typeface="Times New Roman" panose="02020603050405020304" pitchFamily="18" charset="0"/>
                <a:cs typeface="Times New Roman" panose="02020603050405020304" pitchFamily="18" charset="0"/>
              </a:rPr>
              <a:t>Real-time and historical data is displayed on dashboards, providing insights into water quality trends and patterns.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 IoT water quality monitoring system works on the following principles:- IoT Connectivity: Sensors and devices communicate with each other and the cloud platform.- Real-time Data Processing: Immediate processing and analysis of data for timely alerts and actions.- Cloud Computing: Scalable storage, processing, and analysis of large data sets.- Machine Learning: Algorithms can be applied to predict water quality trends and detect anomalies.</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AB824D7-4CAC-C01E-3463-2FCBB66F49C0}"/>
              </a:ext>
            </a:extLst>
          </p:cNvPr>
          <p:cNvSpPr txBox="1"/>
          <p:nvPr/>
        </p:nvSpPr>
        <p:spPr>
          <a:xfrm>
            <a:off x="3185327" y="411983"/>
            <a:ext cx="7335298" cy="677108"/>
          </a:xfrm>
          <a:prstGeom prst="rect">
            <a:avLst/>
          </a:prstGeom>
          <a:noFill/>
        </p:spPr>
        <p:txBody>
          <a:bodyPr wrap="square" rtlCol="0">
            <a:spAutoFit/>
          </a:bodyPr>
          <a:lstStyle/>
          <a:p>
            <a:r>
              <a:rPr lang="en-US"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EXPLANATION OF PROPOSED WORK</a:t>
            </a:r>
            <a:endPar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pic>
        <p:nvPicPr>
          <p:cNvPr id="3" name="Picture 1">
            <a:extLst>
              <a:ext uri="{FF2B5EF4-FFF2-40B4-BE49-F238E27FC236}">
                <a16:creationId xmlns:a16="http://schemas.microsoft.com/office/drawing/2014/main" id="{F6C9F27D-EA7D-63BB-B502-7E1DA68D1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3643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A30F303-1111-1502-1D8C-3CF216A5599D}"/>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CCAF0B89-2A0B-1424-3506-B287C19DA8A9}"/>
              </a:ext>
            </a:extLst>
          </p:cNvPr>
          <p:cNvSpPr txBox="1"/>
          <p:nvPr/>
        </p:nvSpPr>
        <p:spPr>
          <a:xfrm>
            <a:off x="2599618" y="377795"/>
            <a:ext cx="6260124" cy="400110"/>
          </a:xfrm>
          <a:prstGeom prst="rect">
            <a:avLst/>
          </a:prstGeom>
          <a:noFill/>
        </p:spPr>
        <p:txBody>
          <a:bodyPr wrap="square" rtlCol="0">
            <a:spAutoFit/>
          </a:bodyPr>
          <a:lstStyle/>
          <a:p>
            <a:pPr algn="just"/>
            <a:r>
              <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HARD WARE AND SOFTWARE INVOLVED</a:t>
            </a:r>
          </a:p>
        </p:txBody>
      </p:sp>
      <p:sp>
        <p:nvSpPr>
          <p:cNvPr id="3" name="TextBox 2">
            <a:extLst>
              <a:ext uri="{FF2B5EF4-FFF2-40B4-BE49-F238E27FC236}">
                <a16:creationId xmlns:a16="http://schemas.microsoft.com/office/drawing/2014/main" id="{1BC2B8CE-9E99-F9FC-8374-9A38EEBC2F4C}"/>
              </a:ext>
            </a:extLst>
          </p:cNvPr>
          <p:cNvSpPr txBox="1"/>
          <p:nvPr/>
        </p:nvSpPr>
        <p:spPr>
          <a:xfrm>
            <a:off x="361740" y="1024931"/>
            <a:ext cx="7033847" cy="4585871"/>
          </a:xfrm>
          <a:prstGeom prst="rect">
            <a:avLst/>
          </a:prstGeom>
          <a:noFill/>
        </p:spPr>
        <p:txBody>
          <a:bodyPr wrap="square" rtlCol="0">
            <a:spAutoFit/>
          </a:bodyPr>
          <a:lstStyle/>
          <a:p>
            <a:pPr algn="just"/>
            <a:r>
              <a:rPr lang="en-IN" b="1">
                <a:solidFill>
                  <a:schemeClr val="accent2">
                    <a:lumMod val="60000"/>
                    <a:lumOff val="40000"/>
                  </a:schemeClr>
                </a:solidFill>
                <a:latin typeface="Times New Roman" panose="02020603050405020304" pitchFamily="18" charset="0"/>
                <a:cs typeface="Times New Roman" panose="02020603050405020304" pitchFamily="18" charset="0"/>
              </a:rPr>
              <a:t>1.ESP </a:t>
            </a:r>
            <a:r>
              <a:rPr lang="en-IN" b="1" dirty="0">
                <a:solidFill>
                  <a:schemeClr val="accent2">
                    <a:lumMod val="60000"/>
                    <a:lumOff val="40000"/>
                  </a:schemeClr>
                </a:solidFill>
                <a:latin typeface="Times New Roman" panose="02020603050405020304" pitchFamily="18" charset="0"/>
                <a:cs typeface="Times New Roman" panose="02020603050405020304" pitchFamily="18" charset="0"/>
              </a:rPr>
              <a:t>32</a:t>
            </a:r>
          </a:p>
          <a:p>
            <a:pPr algn="just"/>
            <a:endParaRPr lang="en-IN"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The ESP32 is a series of low-cost, low-power system-on-chip microcontrollers with integrated Wi-Fi and dual-mode Bluetooth capabilities. It was developed by “</a:t>
            </a:r>
            <a:r>
              <a:rPr lang="en-US" sz="1600" dirty="0" err="1">
                <a:latin typeface="Times New Roman" panose="02020603050405020304" pitchFamily="18" charset="0"/>
                <a:cs typeface="Times New Roman" panose="02020603050405020304" pitchFamily="18" charset="0"/>
              </a:rPr>
              <a:t>Espressif</a:t>
            </a:r>
            <a:r>
              <a:rPr lang="en-US" sz="1600" dirty="0">
                <a:latin typeface="Times New Roman" panose="02020603050405020304" pitchFamily="18" charset="0"/>
                <a:cs typeface="Times New Roman" panose="02020603050405020304" pitchFamily="18" charset="0"/>
              </a:rPr>
              <a:t>” Systems, a “Chinese company” that specializes in the production of microcontrollers and wireless communication modules.</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The name "ESP32" refers to the  same (fact)that it is the successor to the ESP8266, another popular microcontroller from </a:t>
            </a:r>
            <a:r>
              <a:rPr lang="en-US" sz="1600" dirty="0" err="1">
                <a:latin typeface="Times New Roman" panose="02020603050405020304" pitchFamily="18" charset="0"/>
                <a:cs typeface="Times New Roman" panose="02020603050405020304" pitchFamily="18" charset="0"/>
              </a:rPr>
              <a:t>Espressif</a:t>
            </a:r>
            <a:r>
              <a:rPr lang="en-US" sz="1600" dirty="0">
                <a:latin typeface="Times New Roman" panose="02020603050405020304" pitchFamily="18" charset="0"/>
                <a:cs typeface="Times New Roman" panose="02020603050405020304" pitchFamily="18" charset="0"/>
              </a:rPr>
              <a:t>.  These is “32-bit “architecture of the processor   used in the microcontroller The ESP8266 module </a:t>
            </a:r>
            <a:r>
              <a:rPr lang="en-US" sz="1600" b="0" i="0" dirty="0">
                <a:effectLst/>
                <a:latin typeface="Times New Roman" panose="02020603050405020304" pitchFamily="18" charset="0"/>
                <a:cs typeface="Times New Roman" panose="02020603050405020304" pitchFamily="18" charset="0"/>
              </a:rPr>
              <a:t>enables microcontrollers to connect to “2.4 GHz Wi-Fi</a:t>
            </a:r>
            <a:endParaRPr lang="en-US" sz="1600" b="0" i="0" dirty="0">
              <a:solidFill>
                <a:srgbClr val="474747"/>
              </a:solidFill>
              <a:effectLst/>
              <a:highlight>
                <a:srgbClr val="FFFFFF"/>
              </a:highligh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sz="1600" b="0" i="0" dirty="0">
              <a:solidFill>
                <a:srgbClr val="474747"/>
              </a:solidFill>
              <a:effectLst/>
              <a:highlight>
                <a:srgbClr val="FFFFFF"/>
              </a:highligh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The ESP32 is a powerful, versatile microcontroller designed for applications that require wireless connectivity, such as IoT (Internet of Things) devices, smart home products, and other embedded systems.</a:t>
            </a:r>
          </a:p>
          <a:p>
            <a:pPr marL="285750" indent="-285750" algn="just">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Specifications:- ROM:128kb, RAM:32kb,Wi-Fi range:100 m, GPIO:23,</a:t>
            </a:r>
          </a:p>
          <a:p>
            <a:pPr algn="just"/>
            <a:r>
              <a:rPr lang="en-US" sz="1600" dirty="0">
                <a:latin typeface="Times New Roman" panose="02020603050405020304" pitchFamily="18" charset="0"/>
                <a:cs typeface="Times New Roman" panose="02020603050405020304" pitchFamily="18" charset="0"/>
              </a:rPr>
              <a:t>      logic level:3.3v, Analogue channel:18</a:t>
            </a:r>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0459025-66EC-4D25-EED3-2C4B3DFC593D}"/>
              </a:ext>
            </a:extLst>
          </p:cNvPr>
          <p:cNvPicPr>
            <a:picLocks noChangeAspect="1"/>
          </p:cNvPicPr>
          <p:nvPr/>
        </p:nvPicPr>
        <p:blipFill>
          <a:blip r:embed="rId2"/>
          <a:stretch>
            <a:fillRect/>
          </a:stretch>
        </p:blipFill>
        <p:spPr>
          <a:xfrm>
            <a:off x="7886123" y="1735249"/>
            <a:ext cx="3461867" cy="3168347"/>
          </a:xfrm>
          <a:prstGeom prst="rect">
            <a:avLst/>
          </a:prstGeom>
          <a:ln w="38100" cap="sq">
            <a:solidFill>
              <a:schemeClr val="accent2"/>
            </a:solidFill>
            <a:prstDash val="solid"/>
            <a:miter lim="800000"/>
          </a:ln>
          <a:effectLst>
            <a:outerShdw blurRad="50800" dist="38100" dir="2700000" algn="tl" rotWithShape="0">
              <a:srgbClr val="000000">
                <a:alpha val="43000"/>
              </a:srgbClr>
            </a:outerShdw>
          </a:effectLst>
        </p:spPr>
      </p:pic>
      <p:pic>
        <p:nvPicPr>
          <p:cNvPr id="5" name="Picture 1">
            <a:extLst>
              <a:ext uri="{FF2B5EF4-FFF2-40B4-BE49-F238E27FC236}">
                <a16:creationId xmlns:a16="http://schemas.microsoft.com/office/drawing/2014/main" id="{63926E1E-4D93-37D9-4DC4-3536B6425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7822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6E6C92-4E92-8863-5133-AE0291D8E370}"/>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8D24301F-629A-0781-C23B-01926E24246C}"/>
              </a:ext>
            </a:extLst>
          </p:cNvPr>
          <p:cNvSpPr txBox="1"/>
          <p:nvPr/>
        </p:nvSpPr>
        <p:spPr>
          <a:xfrm>
            <a:off x="251209" y="364193"/>
            <a:ext cx="7144378" cy="2123658"/>
          </a:xfrm>
          <a:prstGeom prst="rect">
            <a:avLst/>
          </a:prstGeom>
          <a:noFill/>
        </p:spPr>
        <p:txBody>
          <a:bodyPr wrap="square" rtlCol="0">
            <a:spAutoFit/>
          </a:bodyPr>
          <a:lstStyle/>
          <a:p>
            <a:pPr algn="just"/>
            <a:r>
              <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 INPUT JACK</a:t>
            </a: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An input jack is a type of electrical connector used to receive signals or power from an external source. It serves as the entry point for electrical signals, such as audio, video, or data, into a device.</a:t>
            </a:r>
          </a:p>
          <a:p>
            <a:pPr algn="just"/>
            <a:endParaRPr lang="en-IN"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Specification</a:t>
            </a:r>
            <a:r>
              <a:rPr lang="en-IN" sz="1600" dirty="0">
                <a:latin typeface="Times New Roman" panose="02020603050405020304" pitchFamily="18" charset="0"/>
                <a:cs typeface="Times New Roman" panose="02020603050405020304" pitchFamily="18" charset="0"/>
              </a:rPr>
              <a:t>s:-dc adapter,current:1 Amax, voltage;5v, </a:t>
            </a:r>
            <a:r>
              <a:rPr lang="en-IN" sz="1600" dirty="0" err="1">
                <a:latin typeface="Times New Roman" panose="02020603050405020304" pitchFamily="18" charset="0"/>
                <a:cs typeface="Times New Roman" panose="02020603050405020304" pitchFamily="18" charset="0"/>
              </a:rPr>
              <a:t>Type:dc</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technology:smps</a:t>
            </a:r>
            <a:endParaRPr lang="en-IN" sz="1600" dirty="0">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o"/>
            </a:pPr>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EDF4443-D466-8DE2-0330-46C9BEB37412}"/>
              </a:ext>
            </a:extLst>
          </p:cNvPr>
          <p:cNvSpPr txBox="1"/>
          <p:nvPr/>
        </p:nvSpPr>
        <p:spPr>
          <a:xfrm>
            <a:off x="251209" y="3429000"/>
            <a:ext cx="7777424" cy="2369880"/>
          </a:xfrm>
          <a:prstGeom prst="rect">
            <a:avLst/>
          </a:prstGeom>
          <a:noFill/>
        </p:spPr>
        <p:txBody>
          <a:bodyPr wrap="square" rtlCol="0">
            <a:spAutoFit/>
          </a:bodyPr>
          <a:lstStyle/>
          <a:p>
            <a:pPr algn="just"/>
            <a:r>
              <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 MAIN SWITCH</a:t>
            </a: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An input switch refers to a device or control mechanism that allows the user to select between different input sources or activate a specific input on a device. The term can apply to various contexts, such as electronics, audio/video equipment, or computing.</a:t>
            </a:r>
          </a:p>
          <a:p>
            <a:pPr algn="just"/>
            <a:endParaRPr lang="en-IN"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Specifications:</a:t>
            </a:r>
            <a:r>
              <a:rPr lang="en-IN" sz="1600" dirty="0" err="1">
                <a:latin typeface="Times New Roman" panose="02020603050405020304" pitchFamily="18" charset="0"/>
                <a:cs typeface="Times New Roman" panose="02020603050405020304" pitchFamily="18" charset="0"/>
              </a:rPr>
              <a:t>Type:DpDt</a:t>
            </a:r>
            <a:r>
              <a:rPr lang="en-IN" sz="1600" dirty="0">
                <a:latin typeface="Times New Roman" panose="02020603050405020304" pitchFamily="18" charset="0"/>
                <a:cs typeface="Times New Roman" panose="02020603050405020304" pitchFamily="18" charset="0"/>
              </a:rPr>
              <a:t> push pull, Current:1Amax, Voltage:5volt</a:t>
            </a:r>
          </a:p>
          <a:p>
            <a:pPr marL="285750" indent="-285750" algn="just">
              <a:buFont typeface="Wingdings" panose="05000000000000000000" pitchFamily="2" charset="2"/>
              <a:buChar char="§"/>
            </a:pPr>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6181ABB-0FDC-FDDE-4CED-AC043B30DE75}"/>
              </a:ext>
            </a:extLst>
          </p:cNvPr>
          <p:cNvPicPr>
            <a:picLocks noChangeAspect="1"/>
          </p:cNvPicPr>
          <p:nvPr/>
        </p:nvPicPr>
        <p:blipFill>
          <a:blip r:embed="rId2"/>
          <a:stretch>
            <a:fillRect/>
          </a:stretch>
        </p:blipFill>
        <p:spPr>
          <a:xfrm>
            <a:off x="7807569" y="812899"/>
            <a:ext cx="2863781" cy="1616810"/>
          </a:xfrm>
          <a:prstGeom prst="rect">
            <a:avLst/>
          </a:prstGeom>
          <a:ln w="38100" cap="sq">
            <a:solidFill>
              <a:schemeClr val="accent2"/>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F9D942FC-598C-C784-A2F4-00C43CC2B243}"/>
              </a:ext>
            </a:extLst>
          </p:cNvPr>
          <p:cNvPicPr>
            <a:picLocks noChangeAspect="1"/>
          </p:cNvPicPr>
          <p:nvPr/>
        </p:nvPicPr>
        <p:blipFill>
          <a:blip r:embed="rId3"/>
          <a:stretch>
            <a:fillRect/>
          </a:stretch>
        </p:blipFill>
        <p:spPr>
          <a:xfrm>
            <a:off x="7932494" y="3537020"/>
            <a:ext cx="3018064" cy="2753247"/>
          </a:xfrm>
          <a:prstGeom prst="rect">
            <a:avLst/>
          </a:prstGeom>
          <a:ln w="38100" cap="sq">
            <a:solidFill>
              <a:schemeClr val="accent2"/>
            </a:solidFill>
            <a:prstDash val="solid"/>
            <a:miter lim="800000"/>
          </a:ln>
          <a:effectLst>
            <a:outerShdw blurRad="50800" dist="38100" dir="2700000" algn="tl" rotWithShape="0">
              <a:srgbClr val="000000">
                <a:alpha val="43000"/>
              </a:srgbClr>
            </a:outerShdw>
          </a:effectLst>
        </p:spPr>
      </p:pic>
      <p:pic>
        <p:nvPicPr>
          <p:cNvPr id="6" name="Picture 1">
            <a:extLst>
              <a:ext uri="{FF2B5EF4-FFF2-40B4-BE49-F238E27FC236}">
                <a16:creationId xmlns:a16="http://schemas.microsoft.com/office/drawing/2014/main" id="{967F49A7-E756-9A8F-2787-4B3EE25532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06935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70147B-1A63-6D33-1140-A506BAF93165}"/>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5" name="TextBox 4">
            <a:extLst>
              <a:ext uri="{FF2B5EF4-FFF2-40B4-BE49-F238E27FC236}">
                <a16:creationId xmlns:a16="http://schemas.microsoft.com/office/drawing/2014/main" id="{278FB353-0FAE-E6C5-AC3D-775986303BC3}"/>
              </a:ext>
            </a:extLst>
          </p:cNvPr>
          <p:cNvSpPr txBox="1"/>
          <p:nvPr/>
        </p:nvSpPr>
        <p:spPr>
          <a:xfrm>
            <a:off x="459253" y="698462"/>
            <a:ext cx="6304628" cy="2123658"/>
          </a:xfrm>
          <a:prstGeom prst="rect">
            <a:avLst/>
          </a:prstGeom>
          <a:noFill/>
        </p:spPr>
        <p:txBody>
          <a:bodyPr wrap="square" rtlCol="0">
            <a:spAutoFit/>
          </a:bodyPr>
          <a:lstStyle/>
          <a:p>
            <a:r>
              <a:rPr lang="en-US"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4.PH SENSOR </a:t>
            </a: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 A pH sensor is a device used to measure the pH level of a solution, indicating how acidic or alkaline the solution is. The pH scale ranges from 0 to 14, where 7 is neutral, values below 7 indicate acidity, and values above 7 indicate alkalinity.</a:t>
            </a:r>
          </a:p>
          <a:p>
            <a:pPr marL="285750" indent="-285750">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Specifications:- Input Voltage:3.5v,  Range:7.5-1,  inbuilt opamp:IM741,  </a:t>
            </a:r>
            <a:r>
              <a:rPr lang="en-US" sz="1600" dirty="0" err="1">
                <a:latin typeface="Times New Roman" panose="02020603050405020304" pitchFamily="18" charset="0"/>
                <a:cs typeface="Times New Roman" panose="02020603050405020304" pitchFamily="18" charset="0"/>
              </a:rPr>
              <a:t>Type:Digital</a:t>
            </a:r>
            <a:endParaRPr lang="en-IN" sz="16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B521A2E-8C27-18A9-F2B1-4500735E7343}"/>
              </a:ext>
            </a:extLst>
          </p:cNvPr>
          <p:cNvPicPr>
            <a:picLocks noChangeAspect="1"/>
          </p:cNvPicPr>
          <p:nvPr/>
        </p:nvPicPr>
        <p:blipFill>
          <a:blip r:embed="rId2"/>
          <a:stretch>
            <a:fillRect/>
          </a:stretch>
        </p:blipFill>
        <p:spPr>
          <a:xfrm>
            <a:off x="7171173" y="944684"/>
            <a:ext cx="3975798" cy="2123658"/>
          </a:xfrm>
          <a:prstGeom prst="rect">
            <a:avLst/>
          </a:prstGeom>
          <a:ln w="38100" cap="sq">
            <a:solidFill>
              <a:schemeClr val="accent2"/>
            </a:solidFill>
            <a:prstDash val="solid"/>
            <a:miter lim="800000"/>
          </a:ln>
          <a:effectLst>
            <a:outerShdw blurRad="50800" dist="38100" dir="2700000" algn="tl" rotWithShape="0">
              <a:srgbClr val="000000">
                <a:alpha val="43000"/>
              </a:srgbClr>
            </a:outerShdw>
          </a:effectLst>
        </p:spPr>
      </p:pic>
      <p:pic>
        <p:nvPicPr>
          <p:cNvPr id="3" name="Picture 1">
            <a:extLst>
              <a:ext uri="{FF2B5EF4-FFF2-40B4-BE49-F238E27FC236}">
                <a16:creationId xmlns:a16="http://schemas.microsoft.com/office/drawing/2014/main" id="{AECF73A9-9206-7BD3-108D-409319BC22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61090" y="88411"/>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3E2B5DA4-83DF-1248-D794-F252D9E226DB}"/>
              </a:ext>
            </a:extLst>
          </p:cNvPr>
          <p:cNvSpPr txBox="1"/>
          <p:nvPr/>
        </p:nvSpPr>
        <p:spPr>
          <a:xfrm>
            <a:off x="459254" y="3420291"/>
            <a:ext cx="6711919" cy="2339102"/>
          </a:xfrm>
          <a:prstGeom prst="rect">
            <a:avLst/>
          </a:prstGeom>
          <a:noFill/>
        </p:spPr>
        <p:txBody>
          <a:bodyPr wrap="square" rtlCol="0">
            <a:spAutoFit/>
          </a:bodyPr>
          <a:lstStyle/>
          <a:p>
            <a:pPr algn="just"/>
            <a:r>
              <a:rPr lang="en-US"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5.BLYNK SERVER</a:t>
            </a: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The Blynk Server is a central component in the Blynk IoT ecosystem, designed to manage data exchanges between IoT devices (like microcontrollers), the Blynk mobile app, and other external services. It serves as the backbone that facilitates the interaction of these devices, enabling them to communicate, store data, and manage IoT applications.</a:t>
            </a:r>
          </a:p>
          <a:p>
            <a:pPr marL="742950" lvl="1" indent="-285750" algn="just">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Specifications :- Device Connectivity &amp; Communication ,  Data Handling and Storage, </a:t>
            </a:r>
            <a:r>
              <a:rPr lang="en-US" sz="1600" dirty="0" err="1">
                <a:latin typeface="Times New Roman" panose="02020603050405020304" pitchFamily="18" charset="0"/>
                <a:cs typeface="Times New Roman" panose="02020603050405020304" pitchFamily="18" charset="0"/>
              </a:rPr>
              <a:t>Security,User</a:t>
            </a:r>
            <a:r>
              <a:rPr lang="en-US" sz="1600" dirty="0">
                <a:latin typeface="Times New Roman" panose="02020603050405020304" pitchFamily="18" charset="0"/>
                <a:cs typeface="Times New Roman" panose="02020603050405020304" pitchFamily="18" charset="0"/>
              </a:rPr>
              <a:t> Management</a:t>
            </a:r>
            <a:endParaRPr lang="en-IN" sz="1600" dirty="0">
              <a:latin typeface="Times New Roman" panose="02020603050405020304" pitchFamily="18" charset="0"/>
              <a:cs typeface="Times New Roman" panose="02020603050405020304" pitchFamily="18" charset="0"/>
            </a:endParaRPr>
          </a:p>
        </p:txBody>
      </p:sp>
      <p:pic>
        <p:nvPicPr>
          <p:cNvPr id="2050" name="Picture 2" descr="See the source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0184" y="4045785"/>
            <a:ext cx="2517775" cy="18883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6827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EA3CBC8-3C26-7B7F-56AC-F8FACBD6BBCB}"/>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7F69E4CD-4DBC-22FA-2C5F-AF33DE903DE9}"/>
              </a:ext>
            </a:extLst>
          </p:cNvPr>
          <p:cNvSpPr txBox="1"/>
          <p:nvPr/>
        </p:nvSpPr>
        <p:spPr>
          <a:xfrm>
            <a:off x="360224" y="200768"/>
            <a:ext cx="10601011" cy="1877437"/>
          </a:xfrm>
          <a:prstGeom prst="rect">
            <a:avLst/>
          </a:prstGeom>
          <a:noFill/>
        </p:spPr>
        <p:txBody>
          <a:bodyPr wrap="square" rtlCol="0">
            <a:spAutoFit/>
          </a:bodyPr>
          <a:lstStyle/>
          <a:p>
            <a:r>
              <a:rPr lang="en-US"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6.PH CONVERTER  </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 pH converter Typically refers to an “electronic device or module “that takes the output from a pH sensor or electrode, which measures the “acidity or alkalinity of a solution”, and converts it into a more usable form. “This output is usually an  electrical signal that can be read by other devices”, such as controllers, display units, data loggers, or computer systems</a:t>
            </a:r>
          </a:p>
          <a:p>
            <a:pPr marL="285750" indent="-285750">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Specifications:-model:INA219,voltage:34Dc,current:3AMAx,Type:Ac/Dc, Protocal:i2c </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6807629-EDC2-5600-7BFE-4A855F411A4B}"/>
              </a:ext>
            </a:extLst>
          </p:cNvPr>
          <p:cNvPicPr>
            <a:picLocks noChangeAspect="1"/>
          </p:cNvPicPr>
          <p:nvPr/>
        </p:nvPicPr>
        <p:blipFill>
          <a:blip r:embed="rId2"/>
          <a:stretch>
            <a:fillRect/>
          </a:stretch>
        </p:blipFill>
        <p:spPr>
          <a:xfrm>
            <a:off x="9525839" y="2279043"/>
            <a:ext cx="2125070" cy="2130375"/>
          </a:xfrm>
          <a:prstGeom prst="rect">
            <a:avLst/>
          </a:prstGeom>
          <a:ln w="38100" cap="sq">
            <a:solidFill>
              <a:schemeClr val="accent2"/>
            </a:solidFill>
            <a:prstDash val="solid"/>
            <a:miter lim="800000"/>
          </a:ln>
          <a:effectLst>
            <a:outerShdw blurRad="50800" dist="38100" dir="2700000" algn="tl" rotWithShape="0">
              <a:srgbClr val="000000">
                <a:alpha val="43000"/>
              </a:srgbClr>
            </a:outerShdw>
          </a:effectLst>
        </p:spPr>
      </p:pic>
      <p:pic>
        <p:nvPicPr>
          <p:cNvPr id="3" name="Picture 1">
            <a:extLst>
              <a:ext uri="{FF2B5EF4-FFF2-40B4-BE49-F238E27FC236}">
                <a16:creationId xmlns:a16="http://schemas.microsoft.com/office/drawing/2014/main" id="{58EE0952-1EEB-331C-E146-6B1319D21E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1235" y="98481"/>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484BF23A-2363-5328-F730-1157F744A20A}"/>
              </a:ext>
            </a:extLst>
          </p:cNvPr>
          <p:cNvPicPr>
            <a:picLocks noChangeAspect="1"/>
          </p:cNvPicPr>
          <p:nvPr/>
        </p:nvPicPr>
        <p:blipFill>
          <a:blip r:embed="rId4"/>
          <a:stretch>
            <a:fillRect/>
          </a:stretch>
        </p:blipFill>
        <p:spPr>
          <a:xfrm>
            <a:off x="381000" y="2172419"/>
            <a:ext cx="8371114" cy="4320913"/>
          </a:xfrm>
          <a:prstGeom prst="rect">
            <a:avLst/>
          </a:prstGeom>
          <a:ln w="38100">
            <a:solidFill>
              <a:schemeClr val="accent2"/>
            </a:solidFill>
          </a:ln>
        </p:spPr>
      </p:pic>
    </p:spTree>
    <p:extLst>
      <p:ext uri="{BB962C8B-B14F-4D97-AF65-F5344CB8AC3E}">
        <p14:creationId xmlns:p14="http://schemas.microsoft.com/office/powerpoint/2010/main" val="24051489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F96F465-21C4-C492-2E46-A539059CF9C3}"/>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1709812B-50D8-8DAB-C2F1-971014043B6F}"/>
              </a:ext>
            </a:extLst>
          </p:cNvPr>
          <p:cNvSpPr txBox="1"/>
          <p:nvPr/>
        </p:nvSpPr>
        <p:spPr>
          <a:xfrm>
            <a:off x="442127" y="331597"/>
            <a:ext cx="7264957" cy="2123658"/>
          </a:xfrm>
          <a:prstGeom prst="rect">
            <a:avLst/>
          </a:prstGeom>
          <a:noFill/>
        </p:spPr>
        <p:txBody>
          <a:bodyPr wrap="square" rtlCol="0">
            <a:spAutoFit/>
          </a:bodyPr>
          <a:lstStyle/>
          <a:p>
            <a:r>
              <a:rPr lang="en-IN"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7.TEMPERCTURE SENSOR</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 temperature sensor is a device used to measure temperature, meaning it detects the amount of heat or cold in an environment or a specific object. Temperature sensors work by converting temperature measurements into data that can be read by a system or a user.</a:t>
            </a: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specifications:- model:Ds18b20,operating voltage:3.5v,Range;-30to +130, </a:t>
            </a:r>
            <a:r>
              <a:rPr lang="en-IN" sz="1600" dirty="0" err="1">
                <a:latin typeface="Times New Roman" panose="02020603050405020304" pitchFamily="18" charset="0"/>
                <a:cs typeface="Times New Roman" panose="02020603050405020304" pitchFamily="18" charset="0"/>
              </a:rPr>
              <a:t>type:digital</a:t>
            </a:r>
            <a:endParaRPr lang="en-IN"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2ECACE4-CFB1-B85A-400C-47286AF8C511}"/>
              </a:ext>
            </a:extLst>
          </p:cNvPr>
          <p:cNvSpPr txBox="1"/>
          <p:nvPr/>
        </p:nvSpPr>
        <p:spPr>
          <a:xfrm>
            <a:off x="442128" y="3346101"/>
            <a:ext cx="7264958" cy="3600986"/>
          </a:xfrm>
          <a:prstGeom prst="rect">
            <a:avLst/>
          </a:prstGeom>
          <a:noFill/>
        </p:spPr>
        <p:txBody>
          <a:bodyPr wrap="square" rtlCol="0">
            <a:spAutoFit/>
          </a:bodyPr>
          <a:lstStyle/>
          <a:p>
            <a:r>
              <a:rPr lang="en-IN"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8.TDS  SENSOR</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 TDS sensor is a device used to measure the Total Dissolved Solids (TDS) in a liquid, usually water. TDS refers to the concentration of dissolved substances such as salts, minerals, and organic matter in the water. These solids are typically in ionic form, and their concentration is an important indicator of water quality.</a:t>
            </a:r>
          </a:p>
          <a:p>
            <a:pPr marL="285750" indent="-285750">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TDS sensors usually work by measuring the electrical conductivity of the water. Dissolved solids in water increase its conductivity. The sensor detects this conductivity and converts it into a TDS value. typically expressed in parts per million (ppm). This value indicates the total concentration of dissolved solids in the water.</a:t>
            </a:r>
          </a:p>
          <a:p>
            <a:pPr marL="285750" indent="-285750">
              <a:buFont typeface="Wingdings" panose="05000000000000000000" pitchFamily="2" charset="2"/>
              <a:buChar char="§"/>
            </a:pPr>
            <a:r>
              <a:rPr lang="en-US" sz="1600" dirty="0" err="1">
                <a:latin typeface="Times New Roman" panose="02020603050405020304" pitchFamily="18" charset="0"/>
                <a:cs typeface="Times New Roman" panose="02020603050405020304" pitchFamily="18" charset="0"/>
              </a:rPr>
              <a:t>Specifications:Input</a:t>
            </a:r>
            <a:r>
              <a:rPr lang="en-US" sz="1600" dirty="0">
                <a:latin typeface="Times New Roman" panose="02020603050405020304" pitchFamily="18" charset="0"/>
                <a:cs typeface="Times New Roman" panose="02020603050405020304" pitchFamily="18" charset="0"/>
              </a:rPr>
              <a:t> voltage:3.3v/5v,Output voltage:-0-2.3v,Working Current:-3-6ma,Tds measurement Range:0-1000ppm</a:t>
            </a:r>
            <a:endParaRPr lang="en-US"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0E2857C-D3F8-D457-FA53-9D674B4D4A26}"/>
              </a:ext>
            </a:extLst>
          </p:cNvPr>
          <p:cNvPicPr>
            <a:picLocks noChangeAspect="1"/>
          </p:cNvPicPr>
          <p:nvPr/>
        </p:nvPicPr>
        <p:blipFill>
          <a:blip r:embed="rId2"/>
          <a:stretch>
            <a:fillRect/>
          </a:stretch>
        </p:blipFill>
        <p:spPr>
          <a:xfrm>
            <a:off x="8131817" y="331597"/>
            <a:ext cx="2652765" cy="2244185"/>
          </a:xfrm>
          <a:prstGeom prst="rect">
            <a:avLst/>
          </a:prstGeom>
          <a:ln w="38100" cap="sq">
            <a:solidFill>
              <a:schemeClr val="accent2"/>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28EE28E7-E2A5-1628-4BB4-F752D7C6626B}"/>
              </a:ext>
            </a:extLst>
          </p:cNvPr>
          <p:cNvPicPr>
            <a:picLocks noChangeAspect="1"/>
          </p:cNvPicPr>
          <p:nvPr/>
        </p:nvPicPr>
        <p:blipFill>
          <a:blip r:embed="rId3"/>
          <a:stretch>
            <a:fillRect/>
          </a:stretch>
        </p:blipFill>
        <p:spPr>
          <a:xfrm>
            <a:off x="8131817" y="3346101"/>
            <a:ext cx="3002581" cy="2244185"/>
          </a:xfrm>
          <a:prstGeom prst="rect">
            <a:avLst/>
          </a:prstGeom>
          <a:ln w="38100" cap="sq">
            <a:solidFill>
              <a:schemeClr val="accent2"/>
            </a:solidFill>
            <a:prstDash val="solid"/>
            <a:miter lim="800000"/>
          </a:ln>
          <a:effectLst>
            <a:outerShdw blurRad="50800" dist="38100" dir="2700000" algn="tl" rotWithShape="0">
              <a:srgbClr val="000000">
                <a:alpha val="43000"/>
              </a:srgbClr>
            </a:outerShdw>
          </a:effectLst>
        </p:spPr>
      </p:pic>
      <p:pic>
        <p:nvPicPr>
          <p:cNvPr id="4" name="Picture 1">
            <a:extLst>
              <a:ext uri="{FF2B5EF4-FFF2-40B4-BE49-F238E27FC236}">
                <a16:creationId xmlns:a16="http://schemas.microsoft.com/office/drawing/2014/main" id="{3ADE1D5E-7749-989F-C922-07377FA6DC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1353" y="13688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46238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5801479-80F7-1EDA-397C-53F799E27BF8}"/>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F4F117EE-7310-66CC-4105-109A79548187}"/>
              </a:ext>
            </a:extLst>
          </p:cNvPr>
          <p:cNvSpPr txBox="1"/>
          <p:nvPr/>
        </p:nvSpPr>
        <p:spPr>
          <a:xfrm>
            <a:off x="321546" y="282519"/>
            <a:ext cx="6923315" cy="4585871"/>
          </a:xfrm>
          <a:prstGeom prst="rect">
            <a:avLst/>
          </a:prstGeom>
          <a:noFill/>
        </p:spPr>
        <p:txBody>
          <a:bodyPr wrap="square" rtlCol="0">
            <a:spAutoFit/>
          </a:bodyPr>
          <a:lstStyle/>
          <a:p>
            <a:r>
              <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TDS CONVERTER</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TDS converter typically refers to a device or tool used to measure and sometimes convert Total Dissolved Solids (TDS) in water. TDS is a measure of the combined content of all inorganic and organic substances contained in a liquid, typically water. These substances are usually in the form of ions, such as salts, minerals, and metals.</a:t>
            </a:r>
          </a:p>
          <a:p>
            <a:pPr marL="285750" indent="-285750">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Functions of a TDS Converter: Measurement: The primary function of a TDS converter or meter is to measure the TDS level in water. This is usually done by measuring the electrical conductivity of the water, as dissolved solids increase the water's conductivity.</a:t>
            </a:r>
          </a:p>
          <a:p>
            <a:pPr marL="285750" indent="-285750">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Conversion: The device then converts this conductivity measurement into a TDS value, typically expressed in parts per million (ppm). This value gives an estimate of the total concentration of dissolved substances in the water.</a:t>
            </a:r>
          </a:p>
          <a:p>
            <a:pPr marL="285750" indent="-285750">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err="1">
                <a:latin typeface="Times New Roman" panose="02020603050405020304" pitchFamily="18" charset="0"/>
                <a:cs typeface="Times New Roman" panose="02020603050405020304" pitchFamily="18" charset="0"/>
              </a:rPr>
              <a:t>Specifiactions</a:t>
            </a:r>
            <a:r>
              <a:rPr lang="en-US" sz="1600" dirty="0">
                <a:latin typeface="Times New Roman" panose="02020603050405020304" pitchFamily="18" charset="0"/>
                <a:cs typeface="Times New Roman" panose="02020603050405020304" pitchFamily="18" charset="0"/>
              </a:rPr>
              <a:t>:-</a:t>
            </a:r>
            <a:r>
              <a:rPr lang="en-US" sz="1600" b="0" i="0" dirty="0">
                <a:effectLst/>
                <a:latin typeface="Google Sans"/>
              </a:rPr>
              <a:t>a document that provides detailed information about a specific product or technology</a:t>
            </a:r>
            <a:r>
              <a:rPr lang="en-US" sz="1600" b="0" i="0" dirty="0">
                <a:solidFill>
                  <a:srgbClr val="474747"/>
                </a:solidFill>
                <a:effectLst/>
                <a:latin typeface="Google Sans"/>
              </a:rPr>
              <a:t>. </a:t>
            </a:r>
            <a:endParaRPr lang="en-IN" sz="16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CFC9105-95D6-F017-665C-868421B35888}"/>
              </a:ext>
            </a:extLst>
          </p:cNvPr>
          <p:cNvPicPr>
            <a:picLocks noChangeAspect="1"/>
          </p:cNvPicPr>
          <p:nvPr/>
        </p:nvPicPr>
        <p:blipFill>
          <a:blip r:embed="rId2"/>
          <a:stretch>
            <a:fillRect/>
          </a:stretch>
        </p:blipFill>
        <p:spPr>
          <a:xfrm>
            <a:off x="7827666" y="1637881"/>
            <a:ext cx="3667648" cy="2954215"/>
          </a:xfrm>
          <a:prstGeom prst="rect">
            <a:avLst/>
          </a:prstGeom>
          <a:ln w="38100" cap="sq">
            <a:solidFill>
              <a:schemeClr val="accent2"/>
            </a:solidFill>
            <a:prstDash val="solid"/>
            <a:miter lim="800000"/>
          </a:ln>
          <a:effectLst>
            <a:outerShdw blurRad="50800" dist="38100" dir="2700000" algn="tl" rotWithShape="0">
              <a:srgbClr val="000000">
                <a:alpha val="43000"/>
              </a:srgbClr>
            </a:outerShdw>
          </a:effectLst>
        </p:spPr>
      </p:pic>
      <p:pic>
        <p:nvPicPr>
          <p:cNvPr id="4" name="Picture 1">
            <a:extLst>
              <a:ext uri="{FF2B5EF4-FFF2-40B4-BE49-F238E27FC236}">
                <a16:creationId xmlns:a16="http://schemas.microsoft.com/office/drawing/2014/main" id="{D7BDBF7D-3959-324F-7C6E-935F7B5BD5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6822" y="22936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1753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8AC3702-6821-3C9A-922E-245A3B1DE98A}"/>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5BBF3F0F-4FDA-68FA-20AC-9FE0D8AFFBDF}"/>
              </a:ext>
            </a:extLst>
          </p:cNvPr>
          <p:cNvSpPr txBox="1"/>
          <p:nvPr/>
        </p:nvSpPr>
        <p:spPr>
          <a:xfrm>
            <a:off x="4188480" y="494723"/>
            <a:ext cx="2190541" cy="400110"/>
          </a:xfrm>
          <a:prstGeom prst="rect">
            <a:avLst/>
          </a:prstGeom>
          <a:noFill/>
          <a:ln>
            <a:noFill/>
          </a:ln>
        </p:spPr>
        <p:txBody>
          <a:bodyPr wrap="square" rtlCol="0">
            <a:spAutoFit/>
          </a:bodyPr>
          <a:lstStyle/>
          <a:p>
            <a:pPr algn="ctr"/>
            <a:r>
              <a:rPr lang="en-US"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ADVANTAGES</a:t>
            </a:r>
            <a:endPar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1E21F5FB-93D0-CDA5-E02A-FD717C6C5174}"/>
              </a:ext>
            </a:extLst>
          </p:cNvPr>
          <p:cNvSpPr>
            <a:spLocks noChangeArrowheads="1"/>
          </p:cNvSpPr>
          <p:nvPr/>
        </p:nvSpPr>
        <p:spPr bwMode="auto">
          <a:xfrm>
            <a:off x="401934" y="1022918"/>
            <a:ext cx="11111803" cy="427809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Remote Access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users to monitor water quality from anywhere using a connected device, reducing the need for manual checks.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Alerts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Triggers alerts when water quality parameters fall outside acceptable ranges, helping prevent potential health hazards.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Logging and Analysis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Collects and stores data over time, allowing for trend analysis and better understanding of water quality dynamics.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Efficiency</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labor costs associated with manual sampling and testing, and minimizes the risk of costly water contamination incidents.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Customization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Systems can be tailored to monitor specific parameters such as pH, turbidity, temperature, or dissolved oxygen levels.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Monitoring</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real-time data on water quality, enabling timely detection of any changes or contaminants.</a:t>
            </a:r>
          </a:p>
        </p:txBody>
      </p:sp>
      <p:pic>
        <p:nvPicPr>
          <p:cNvPr id="3" name="Picture 1">
            <a:extLst>
              <a:ext uri="{FF2B5EF4-FFF2-40B4-BE49-F238E27FC236}">
                <a16:creationId xmlns:a16="http://schemas.microsoft.com/office/drawing/2014/main" id="{AE7BB91A-CF1B-AFD5-BF7E-3F81BB4E6F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77580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01184E-D5FD-7FDB-F0CD-EA2CACA6E910}"/>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6" name="TextBox 5">
            <a:extLst>
              <a:ext uri="{FF2B5EF4-FFF2-40B4-BE49-F238E27FC236}">
                <a16:creationId xmlns:a16="http://schemas.microsoft.com/office/drawing/2014/main" id="{D61FA346-3018-2161-E502-F783A16F6607}"/>
              </a:ext>
            </a:extLst>
          </p:cNvPr>
          <p:cNvSpPr txBox="1"/>
          <p:nvPr/>
        </p:nvSpPr>
        <p:spPr>
          <a:xfrm>
            <a:off x="4391769" y="504044"/>
            <a:ext cx="2512088" cy="400110"/>
          </a:xfrm>
          <a:prstGeom prst="rect">
            <a:avLst/>
          </a:prstGeom>
          <a:noFill/>
          <a:ln w="31750">
            <a:noFill/>
          </a:ln>
        </p:spPr>
        <p:txBody>
          <a:bodyPr wrap="square" rtlCol="0">
            <a:spAutoFit/>
          </a:bodyPr>
          <a:lstStyle/>
          <a:p>
            <a:r>
              <a:rPr lang="en-US"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APPLICATIONS</a:t>
            </a:r>
            <a:endPar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8" name="Rectangle 3">
            <a:extLst>
              <a:ext uri="{FF2B5EF4-FFF2-40B4-BE49-F238E27FC236}">
                <a16:creationId xmlns:a16="http://schemas.microsoft.com/office/drawing/2014/main" id="{8D193523-90A9-2536-0EC5-E1818CAA9547}"/>
              </a:ext>
            </a:extLst>
          </p:cNvPr>
          <p:cNvSpPr>
            <a:spLocks noChangeArrowheads="1"/>
          </p:cNvSpPr>
          <p:nvPr/>
        </p:nvSpPr>
        <p:spPr bwMode="auto">
          <a:xfrm>
            <a:off x="331596" y="1337860"/>
            <a:ext cx="11213960"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Drinking Water Supply</a:t>
            </a:r>
            <a:endParaRPr lang="en-US" altLang="en-US" sz="16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600" dirty="0">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the safety and quality of public and private drinking water sources.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Aquaculture</a:t>
            </a:r>
            <a:endParaRPr lang="en-US" altLang="en-US" sz="16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Monitors water conditions in fish farms to maintain optimal environments for aquatic life.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Industrial Effluent Monitoring</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Tracks the quality of wastewater discharge from factories to ensure compliance with environmental regulations.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Monitoring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the protection of natural water bodies by monitoring pollution levels in rivers, lakes, and oceans.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Agriculture</a:t>
            </a:r>
            <a:endParaRPr lang="en-US" altLang="en-US" sz="16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in managing the quality of irrigation water, ensuring it is suitable for crops.</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Cities</a:t>
            </a:r>
            <a:endParaRPr lang="en-US" altLang="en-US" sz="16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Integrates with other smart city technologies to maintain overall urban water management and sustainability.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FCBCF65-552F-CCDC-9F15-B30F24C78B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93010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53EF5D-9013-BBD9-E969-3B9ED74D7D78}"/>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pic>
        <p:nvPicPr>
          <p:cNvPr id="3" name="Picture 2">
            <a:extLst>
              <a:ext uri="{FF2B5EF4-FFF2-40B4-BE49-F238E27FC236}">
                <a16:creationId xmlns:a16="http://schemas.microsoft.com/office/drawing/2014/main" id="{463DC5B4-2C4C-FAA7-C8F3-5DEB683978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EE4B3D36-00B6-2BA2-3C17-1B5DAC901F21}"/>
              </a:ext>
            </a:extLst>
          </p:cNvPr>
          <p:cNvSpPr txBox="1"/>
          <p:nvPr/>
        </p:nvSpPr>
        <p:spPr>
          <a:xfrm>
            <a:off x="3309872" y="577850"/>
            <a:ext cx="6094324" cy="369332"/>
          </a:xfrm>
          <a:prstGeom prst="rect">
            <a:avLst/>
          </a:prstGeom>
          <a:noFill/>
        </p:spPr>
        <p:txBody>
          <a:bodyPr wrap="square">
            <a:spAutoFit/>
          </a:bodyPr>
          <a:lstStyle/>
          <a:p>
            <a:pPr algn="ctr" eaLnBrk="1" fontAlgn="auto" hangingPunct="1">
              <a:spcBef>
                <a:spcPts val="400"/>
              </a:spcBef>
              <a:spcAft>
                <a:spcPts val="400"/>
              </a:spcAft>
              <a:defRPr/>
            </a:pPr>
            <a:r>
              <a:rPr lang="en-IN"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ea typeface="Microsoft Sans Serif" panose="020B0604020202020204" pitchFamily="34" charset="0"/>
                <a:cs typeface="Times New Roman" panose="02020603050405020304" pitchFamily="18" charset="0"/>
              </a:rPr>
              <a:t>PROPOSED WORK BLOCK DIAGRAM</a:t>
            </a:r>
          </a:p>
        </p:txBody>
      </p:sp>
      <p:pic>
        <p:nvPicPr>
          <p:cNvPr id="1026" name="Picture 2" descr="https://how2electronics.com/wp-content/uploads/2022/07/Schematic_Water-Quality-Monitorin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7908" y="1337425"/>
            <a:ext cx="10136777" cy="4793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42267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994DC3-D93C-2750-0170-1C38DACD125E}"/>
              </a:ext>
            </a:extLst>
          </p:cNvPr>
          <p:cNvSpPr txBox="1"/>
          <p:nvPr/>
        </p:nvSpPr>
        <p:spPr>
          <a:xfrm>
            <a:off x="3729463" y="665356"/>
            <a:ext cx="3634990" cy="369332"/>
          </a:xfrm>
          <a:prstGeom prst="rect">
            <a:avLst/>
          </a:prstGeom>
          <a:noFill/>
        </p:spPr>
        <p:txBody>
          <a:bodyPr wrap="square">
            <a:spAutoFit/>
          </a:bodyPr>
          <a:lstStyle/>
          <a:p>
            <a:pPr algn="ctr" eaLnBrk="1" fontAlgn="auto" hangingPunct="1">
              <a:spcBef>
                <a:spcPts val="400"/>
              </a:spcBef>
              <a:spcAft>
                <a:spcPts val="400"/>
              </a:spcAft>
              <a:defRPr/>
            </a:pPr>
            <a:r>
              <a:rPr lang="en-IN"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ea typeface="Microsoft Sans Serif" panose="020B0604020202020204" pitchFamily="34" charset="0"/>
                <a:cs typeface="Times New Roman" panose="02020603050405020304" pitchFamily="18" charset="0"/>
              </a:rPr>
              <a:t>RESULTS </a:t>
            </a:r>
          </a:p>
        </p:txBody>
      </p:sp>
      <p:sp>
        <p:nvSpPr>
          <p:cNvPr id="4" name="Rectangle 3">
            <a:extLst>
              <a:ext uri="{FF2B5EF4-FFF2-40B4-BE49-F238E27FC236}">
                <a16:creationId xmlns:a16="http://schemas.microsoft.com/office/drawing/2014/main" id="{0DABD734-6D94-5E3B-A16A-36CE9A0BF6E4}"/>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pic>
        <p:nvPicPr>
          <p:cNvPr id="5" name="Picture 4">
            <a:extLst>
              <a:ext uri="{FF2B5EF4-FFF2-40B4-BE49-F238E27FC236}">
                <a16:creationId xmlns:a16="http://schemas.microsoft.com/office/drawing/2014/main" id="{6AF3DE27-5249-E13B-A760-E8A06BF25A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2996" y="296063"/>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234137" y="1671128"/>
            <a:ext cx="9039496" cy="3139321"/>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system has achieved the following Real-time monitoring Continuous monitoring of water quality parameters, enabling prompt detection of any anomalies or contaminants. Improved accuracy Utilization of advanced sensors and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technology ensures accurate and reliable water quality data. Remote monitoring Ability to monitor water quality remotely, reducing the need for physical site visits and enabling real-time decision-making. Data analytics: Advanced data analytics capabilities provide valuable insights into water quality trends, enabling predictive maintenance and proactive measures to prevent contamination. Alert and notification system Automated alert and notification system ensures that stakeholders are promptly informed of any water quality issues, enabling swift action to be taken.</a:t>
            </a:r>
          </a:p>
          <a:p>
            <a:pPr marL="285750" indent="-285750">
              <a:buFont typeface="Wingdings" panose="05000000000000000000" pitchFamily="2" charset="2"/>
              <a:buChar char="q"/>
            </a:pPr>
            <a:endParaRPr lang="en-IN"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62297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1956C2-A264-164F-9259-66645D357FEE}"/>
              </a:ext>
            </a:extLst>
          </p:cNvPr>
          <p:cNvSpPr txBox="1"/>
          <p:nvPr/>
        </p:nvSpPr>
        <p:spPr>
          <a:xfrm>
            <a:off x="1238694" y="1620256"/>
            <a:ext cx="9495115" cy="2585323"/>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IoT-based system provides real-time monitoring and alerts, enabling prompt action to be taken in case of any water quality issues. The system also provides valuable insights into water quality trends, enabling predictive maintenance and proactive measures to prevent contamination. The use of IoT technology in water quality monitoring has several advantages, including Real-time monitoring: Enables prompt detection of water quality issues. Increased accuracy Reduces the risk of human error in water quality monitoring. Improved efficiency Automates water quality monitoring, reducing the need for manual sampling and analysis. Enhanced decision-making Provides valuable insights into water quality trends, enabling informed decision-making.</a:t>
            </a:r>
          </a:p>
          <a:p>
            <a:endParaRPr lang="en-IN" dirty="0"/>
          </a:p>
        </p:txBody>
      </p:sp>
      <p:sp>
        <p:nvSpPr>
          <p:cNvPr id="3" name="TextBox 2">
            <a:extLst>
              <a:ext uri="{FF2B5EF4-FFF2-40B4-BE49-F238E27FC236}">
                <a16:creationId xmlns:a16="http://schemas.microsoft.com/office/drawing/2014/main" id="{078CC21E-6395-CEDB-BD9A-EC1A9248AA35}"/>
              </a:ext>
            </a:extLst>
          </p:cNvPr>
          <p:cNvSpPr txBox="1"/>
          <p:nvPr/>
        </p:nvSpPr>
        <p:spPr>
          <a:xfrm>
            <a:off x="5143500" y="748145"/>
            <a:ext cx="1595309" cy="646331"/>
          </a:xfrm>
          <a:prstGeom prst="rect">
            <a:avLst/>
          </a:prstGeom>
          <a:noFill/>
        </p:spPr>
        <p:txBody>
          <a:bodyPr wrap="none" rtlCol="0">
            <a:spAutoFit/>
          </a:bodyPr>
          <a:lstStyle/>
          <a:p>
            <a:r>
              <a:rPr lang="en-IN"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DISCUSSION</a:t>
            </a:r>
            <a:endParaRPr lang="en-US"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
        <p:nvSpPr>
          <p:cNvPr id="4" name="Rectangle 3">
            <a:extLst>
              <a:ext uri="{FF2B5EF4-FFF2-40B4-BE49-F238E27FC236}">
                <a16:creationId xmlns:a16="http://schemas.microsoft.com/office/drawing/2014/main" id="{12C414F6-BF10-2E54-7631-F6EF9480F68B}"/>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pic>
        <p:nvPicPr>
          <p:cNvPr id="5" name="Picture 4">
            <a:extLst>
              <a:ext uri="{FF2B5EF4-FFF2-40B4-BE49-F238E27FC236}">
                <a16:creationId xmlns:a16="http://schemas.microsoft.com/office/drawing/2014/main" id="{1686268D-3739-12A1-B117-CA911874F9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2996" y="296063"/>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6708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1B5F1FF-E8A5-013A-4B4A-3132563B576D}"/>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6D82D190-BA40-1215-A854-50C649DA4F77}"/>
              </a:ext>
            </a:extLst>
          </p:cNvPr>
          <p:cNvSpPr txBox="1"/>
          <p:nvPr/>
        </p:nvSpPr>
        <p:spPr>
          <a:xfrm>
            <a:off x="4916324" y="904352"/>
            <a:ext cx="2210636" cy="400110"/>
          </a:xfrm>
          <a:prstGeom prst="rect">
            <a:avLst/>
          </a:prstGeom>
          <a:noFill/>
          <a:ln>
            <a:noFill/>
          </a:ln>
        </p:spPr>
        <p:txBody>
          <a:bodyPr wrap="square" rtlCol="0">
            <a:spAutoFit/>
          </a:bodyPr>
          <a:lstStyle/>
          <a:p>
            <a:r>
              <a:rPr lang="en-US"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CONCLUSION</a:t>
            </a:r>
            <a:endPar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4967F40-BF44-CD3E-4E20-C01987C8555E}"/>
              </a:ext>
            </a:extLst>
          </p:cNvPr>
          <p:cNvSpPr txBox="1"/>
          <p:nvPr/>
        </p:nvSpPr>
        <p:spPr>
          <a:xfrm>
            <a:off x="884256" y="1879042"/>
            <a:ext cx="10611058" cy="2862322"/>
          </a:xfrm>
          <a:prstGeom prst="rect">
            <a:avLst/>
          </a:prstGeom>
          <a:noFill/>
        </p:spPr>
        <p:txBody>
          <a:bodyPr wrap="square" rtlCol="0">
            <a:spAutoFit/>
          </a:bodyPr>
          <a:lstStyle/>
          <a:p>
            <a:pPr marL="342900" indent="-34290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implementation of a Real-Time IoT-Based Water Quality Monitoring System represents a significant advancement in environmental management and public health. By enabling continuous, automated monitoring of water quality, these systems ensure that water resources remain safe and within regulatory standards. The ability to remotely access data and receive instant alerts allows for quick responses to potential issues, reducing the risk of contamination and environmental damage. Moreover, the integration of data analytics provides valuable insights that can inform long-term water management strategies. As water resources face increasing pressures from pollution and climate change, IoT-based monitoring systems offer a proactive solution to safeguard water quality and protect ecosystems and communities.</a:t>
            </a:r>
            <a:endParaRPr lang="en-IN" sz="2000" dirty="0">
              <a:latin typeface="Times New Roman" panose="02020603050405020304" pitchFamily="18" charset="0"/>
              <a:cs typeface="Times New Roman" panose="02020603050405020304" pitchFamily="18" charset="0"/>
            </a:endParaRPr>
          </a:p>
        </p:txBody>
      </p:sp>
      <p:pic>
        <p:nvPicPr>
          <p:cNvPr id="4" name="Picture 1">
            <a:extLst>
              <a:ext uri="{FF2B5EF4-FFF2-40B4-BE49-F238E27FC236}">
                <a16:creationId xmlns:a16="http://schemas.microsoft.com/office/drawing/2014/main" id="{46EB9E6A-21B5-652A-6D28-862D4A3B8A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24651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8C89D14-FDAB-48CF-3D18-70082A27E25E}"/>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0F8F1220-4153-4B53-A9EA-80C9D1D94588}"/>
              </a:ext>
            </a:extLst>
          </p:cNvPr>
          <p:cNvSpPr txBox="1"/>
          <p:nvPr/>
        </p:nvSpPr>
        <p:spPr>
          <a:xfrm>
            <a:off x="4578696" y="1343162"/>
            <a:ext cx="2820237" cy="400110"/>
          </a:xfrm>
          <a:prstGeom prst="rect">
            <a:avLst/>
          </a:prstGeom>
          <a:noFill/>
          <a:ln>
            <a:noFill/>
          </a:ln>
        </p:spPr>
        <p:txBody>
          <a:bodyPr wrap="square" rtlCol="0">
            <a:spAutoFit/>
          </a:bodyPr>
          <a:lstStyle/>
          <a:p>
            <a:r>
              <a:rPr lang="en-US"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FUCTURE SCOPE</a:t>
            </a:r>
            <a:endPar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3090BC6-562F-B8E2-5ECD-AB7A11821258}"/>
              </a:ext>
            </a:extLst>
          </p:cNvPr>
          <p:cNvSpPr txBox="1"/>
          <p:nvPr/>
        </p:nvSpPr>
        <p:spPr>
          <a:xfrm>
            <a:off x="1150536" y="2072067"/>
            <a:ext cx="9902651" cy="2308324"/>
          </a:xfrm>
          <a:prstGeom prst="rect">
            <a:avLst/>
          </a:prstGeom>
          <a:noFill/>
        </p:spPr>
        <p:txBody>
          <a:bodyPr wrap="square" rtlCol="0">
            <a:spAutoFit/>
          </a:bodyPr>
          <a:lstStyle/>
          <a:p>
            <a:pPr marL="285750" indent="-285750">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Integration with AI and Machine Learning</a:t>
            </a:r>
            <a:r>
              <a:rPr lang="en-US" sz="1600" dirty="0">
                <a:latin typeface="Times New Roman" panose="02020603050405020304" pitchFamily="18" charset="0"/>
                <a:cs typeface="Times New Roman" panose="02020603050405020304" pitchFamily="18" charset="0"/>
              </a:rPr>
              <a:t>: The future of IoT-based water quality monitoring lies in integrating AI and machine learning algorithms to predict water quality trends and potential contamination events. These technologies can analyze historical data and provide predictive analytics, enabling more proactive water management.</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We implement with The ESP32 is a powerful, versatile microcontroller designed for applications that require wireless connectivity, such as IoT (Internet of Things) devices, smart home products, and other embedded systems.</a:t>
            </a:r>
          </a:p>
          <a:p>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pic>
        <p:nvPicPr>
          <p:cNvPr id="4" name="Picture 1">
            <a:extLst>
              <a:ext uri="{FF2B5EF4-FFF2-40B4-BE49-F238E27FC236}">
                <a16:creationId xmlns:a16="http://schemas.microsoft.com/office/drawing/2014/main" id="{A2E05924-2CA9-C201-8A07-C22C36374D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CC909F72-7F71-1BE3-5F5A-B56449D2DF27}"/>
              </a:ext>
            </a:extLst>
          </p:cNvPr>
          <p:cNvPicPr>
            <a:picLocks noChangeAspect="1"/>
          </p:cNvPicPr>
          <p:nvPr/>
        </p:nvPicPr>
        <p:blipFill>
          <a:blip r:embed="rId3"/>
          <a:stretch>
            <a:fillRect/>
          </a:stretch>
        </p:blipFill>
        <p:spPr>
          <a:xfrm>
            <a:off x="3094892" y="3960959"/>
            <a:ext cx="5617029" cy="2496655"/>
          </a:xfrm>
          <a:prstGeom prst="rect">
            <a:avLst/>
          </a:prstGeom>
          <a:ln w="28575">
            <a:solidFill>
              <a:srgbClr val="002060"/>
            </a:solidFill>
          </a:ln>
        </p:spPr>
      </p:pic>
    </p:spTree>
    <p:extLst>
      <p:ext uri="{BB962C8B-B14F-4D97-AF65-F5344CB8AC3E}">
        <p14:creationId xmlns:p14="http://schemas.microsoft.com/office/powerpoint/2010/main" val="7073625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D91F95A-60EA-F4B0-E15C-ECA36D372628}"/>
              </a:ext>
            </a:extLst>
          </p:cNvPr>
          <p:cNvSpPr/>
          <p:nvPr/>
        </p:nvSpPr>
        <p:spPr>
          <a:xfrm>
            <a:off x="190919" y="70338"/>
            <a:ext cx="11887200" cy="6551526"/>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2" name="TextBox 1">
            <a:extLst>
              <a:ext uri="{FF2B5EF4-FFF2-40B4-BE49-F238E27FC236}">
                <a16:creationId xmlns:a16="http://schemas.microsoft.com/office/drawing/2014/main" id="{B8532C7B-109F-3950-B396-7F1B69298722}"/>
              </a:ext>
            </a:extLst>
          </p:cNvPr>
          <p:cNvSpPr txBox="1"/>
          <p:nvPr/>
        </p:nvSpPr>
        <p:spPr>
          <a:xfrm>
            <a:off x="4903593" y="633958"/>
            <a:ext cx="2652766" cy="400110"/>
          </a:xfrm>
          <a:prstGeom prst="rect">
            <a:avLst/>
          </a:prstGeom>
          <a:noFill/>
        </p:spPr>
        <p:txBody>
          <a:bodyPr wrap="square" rtlCol="0">
            <a:spAutoFit/>
          </a:bodyPr>
          <a:lstStyle/>
          <a:p>
            <a:r>
              <a:rPr lang="en-US"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REFERENCES</a:t>
            </a:r>
            <a:endParaRPr lang="en-IN" sz="2000" b="1" dirty="0">
              <a:ln w="0"/>
              <a:solidFill>
                <a:schemeClr val="accent2">
                  <a:lumMod val="60000"/>
                  <a:lumOff val="4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B971481-CFB6-AFBD-6CA8-BFFF9E7B2C8E}"/>
              </a:ext>
            </a:extLst>
          </p:cNvPr>
          <p:cNvSpPr txBox="1"/>
          <p:nvPr/>
        </p:nvSpPr>
        <p:spPr>
          <a:xfrm>
            <a:off x="582805" y="996950"/>
            <a:ext cx="11103428" cy="5509200"/>
          </a:xfrm>
          <a:prstGeom prst="rect">
            <a:avLst/>
          </a:prstGeom>
          <a:noFill/>
        </p:spPr>
        <p:txBody>
          <a:bodyPr wrap="square" rtlCol="0">
            <a:spAutoFit/>
          </a:bodyPr>
          <a:lstStyle/>
          <a:p>
            <a:pPr marL="400050" indent="-400050">
              <a:buFont typeface="+mj-lt"/>
              <a:buAutoNum type="arabicPeriod"/>
            </a:pPr>
            <a:r>
              <a:rPr lang="en-US" sz="1600" dirty="0">
                <a:latin typeface="Times New Roman" panose="02020603050405020304" pitchFamily="18" charset="0"/>
                <a:cs typeface="Times New Roman" panose="02020603050405020304" pitchFamily="18" charset="0"/>
              </a:rPr>
              <a:t>"Singh, S., &amp; Kumar, A. (2024). Smart Water Quality Monitoring Using IoT and AI. In </a:t>
            </a:r>
            <a:r>
              <a:rPr lang="en-US" sz="1600" i="1" dirty="0">
                <a:latin typeface="Times New Roman" panose="02020603050405020304" pitchFamily="18" charset="0"/>
                <a:cs typeface="Times New Roman" panose="02020603050405020304" pitchFamily="18" charset="0"/>
              </a:rPr>
              <a:t>Proceedings of the 2024 International Conference on Smart Technologies</a:t>
            </a:r>
            <a:r>
              <a:rPr lang="en-US" sz="1600" dirty="0">
                <a:latin typeface="Times New Roman" panose="02020603050405020304" pitchFamily="18" charset="0"/>
                <a:cs typeface="Times New Roman" panose="02020603050405020304" pitchFamily="18" charset="0"/>
              </a:rPr>
              <a:t> (pp. 115-122).“</a:t>
            </a:r>
          </a:p>
          <a:p>
            <a:pPr marL="400050" indent="-400050">
              <a:buFont typeface="+mj-lt"/>
              <a:buAutoNum type="arabicPeriod"/>
            </a:pPr>
            <a:endParaRPr lang="en-US" sz="1600" dirty="0">
              <a:latin typeface="Times New Roman" panose="02020603050405020304" pitchFamily="18" charset="0"/>
              <a:cs typeface="Times New Roman" panose="02020603050405020304" pitchFamily="18" charset="0"/>
            </a:endParaRPr>
          </a:p>
          <a:p>
            <a:pPr marL="400050" indent="-400050">
              <a:buFont typeface="+mj-lt"/>
              <a:buAutoNum type="arabicPeriod"/>
            </a:pPr>
            <a:r>
              <a:rPr lang="en-US" sz="1600" dirty="0">
                <a:latin typeface="Times New Roman" panose="02020603050405020304" pitchFamily="18" charset="0"/>
                <a:cs typeface="Times New Roman" panose="02020603050405020304" pitchFamily="18" charset="0"/>
              </a:rPr>
              <a:t>"Chowdary, M. S. U., &amp; Emran, T. B. (2024):- IoT-Based Water Quality Monitoring Systems: An Overview. </a:t>
            </a:r>
            <a:r>
              <a:rPr lang="en-US" sz="1600" i="1" dirty="0">
                <a:latin typeface="Times New Roman" panose="02020603050405020304" pitchFamily="18" charset="0"/>
                <a:cs typeface="Times New Roman" panose="02020603050405020304" pitchFamily="18" charset="0"/>
              </a:rPr>
              <a:t>International Journal of Environmental Monitoring</a:t>
            </a:r>
            <a:r>
              <a:rPr lang="en-US" sz="1600" dirty="0">
                <a:latin typeface="Times New Roman" panose="02020603050405020304" pitchFamily="18" charset="0"/>
                <a:cs typeface="Times New Roman" panose="02020603050405020304" pitchFamily="18" charset="0"/>
              </a:rPr>
              <a:t>, 15(2), 123-135.“</a:t>
            </a:r>
          </a:p>
          <a:p>
            <a:pPr marL="400050" indent="-400050">
              <a:buFont typeface="+mj-lt"/>
              <a:buAutoNum type="arabicPeriod"/>
            </a:pPr>
            <a:endParaRPr lang="en-US" sz="1600" dirty="0">
              <a:latin typeface="Times New Roman" panose="02020603050405020304" pitchFamily="18" charset="0"/>
              <a:cs typeface="Times New Roman" panose="02020603050405020304" pitchFamily="18" charset="0"/>
            </a:endParaRPr>
          </a:p>
          <a:p>
            <a:pPr marL="400050" indent="-400050">
              <a:buFont typeface="+mj-lt"/>
              <a:buAutoNum type="arabicPeriod"/>
            </a:pP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LakshmiKatha</a:t>
            </a:r>
            <a:r>
              <a:rPr lang="en-US" sz="1600" dirty="0">
                <a:latin typeface="Times New Roman" panose="02020603050405020304" pitchFamily="18" charset="0"/>
                <a:cs typeface="Times New Roman" panose="02020603050405020304" pitchFamily="18" charset="0"/>
              </a:rPr>
              <a:t>, V., &amp; Patted, A. (2024). Enhancing Water Quality Monitoring with IoT: A Smart Approach. In </a:t>
            </a:r>
            <a:r>
              <a:rPr lang="en-US" sz="1600" i="1" dirty="0">
                <a:latin typeface="Times New Roman" panose="02020603050405020304" pitchFamily="18" charset="0"/>
                <a:cs typeface="Times New Roman" panose="02020603050405020304" pitchFamily="18" charset="0"/>
              </a:rPr>
              <a:t>Proceedings of the 2024 IEEE Global IoT Summit</a:t>
            </a:r>
            <a:r>
              <a:rPr lang="en-US" sz="1600" dirty="0">
                <a:latin typeface="Times New Roman" panose="02020603050405020304" pitchFamily="18" charset="0"/>
                <a:cs typeface="Times New Roman" panose="02020603050405020304" pitchFamily="18" charset="0"/>
              </a:rPr>
              <a:t> (pp. 45-52).“</a:t>
            </a:r>
          </a:p>
          <a:p>
            <a:pPr marL="342900" indent="-342900">
              <a:buFont typeface="+mj-lt"/>
              <a:buAutoNum type="arabicPeriod"/>
            </a:pPr>
            <a:endParaRPr lang="en-US" sz="1600" dirty="0">
              <a:latin typeface="Times New Roman" panose="02020603050405020304" pitchFamily="18" charset="0"/>
              <a:cs typeface="Times New Roman" panose="02020603050405020304" pitchFamily="18" charset="0"/>
            </a:endParaRPr>
          </a:p>
          <a:p>
            <a:pPr marL="400050" indent="-400050">
              <a:buFont typeface="+mj-lt"/>
              <a:buAutoNum type="arabicPeriod"/>
            </a:pPr>
            <a:r>
              <a:rPr lang="en-US" sz="1600" dirty="0">
                <a:latin typeface="Times New Roman" panose="02020603050405020304" pitchFamily="18" charset="0"/>
                <a:cs typeface="Times New Roman" panose="02020603050405020304" pitchFamily="18" charset="0"/>
              </a:rPr>
              <a:t>"Hamid, S. A., &amp; Abdullah, S. (2024). Performance Evaluation of IoT-Based Water Quality Monitoring Systems. In </a:t>
            </a:r>
            <a:r>
              <a:rPr lang="en-US" sz="1600" i="1" dirty="0">
                <a:latin typeface="Times New Roman" panose="02020603050405020304" pitchFamily="18" charset="0"/>
                <a:cs typeface="Times New Roman" panose="02020603050405020304" pitchFamily="18" charset="0"/>
              </a:rPr>
              <a:t>Proceedings of the 2024 International Conference on Smart Water Networks</a:t>
            </a:r>
            <a:r>
              <a:rPr lang="en-US" sz="1600" dirty="0">
                <a:latin typeface="Times New Roman" panose="02020603050405020304" pitchFamily="18" charset="0"/>
                <a:cs typeface="Times New Roman" panose="02020603050405020304" pitchFamily="18" charset="0"/>
              </a:rPr>
              <a:t> (pp. 100-107).“</a:t>
            </a:r>
          </a:p>
          <a:p>
            <a:pPr marL="400050" indent="-400050">
              <a:buFont typeface="+mj-lt"/>
              <a:buAutoNum type="arabicPeriod"/>
            </a:pPr>
            <a:endParaRPr lang="en-US" sz="1600" dirty="0">
              <a:latin typeface="Times New Roman" panose="02020603050405020304" pitchFamily="18" charset="0"/>
              <a:cs typeface="Times New Roman" panose="02020603050405020304" pitchFamily="18" charset="0"/>
            </a:endParaRPr>
          </a:p>
          <a:p>
            <a:pPr marL="400050" indent="-400050">
              <a:buFont typeface="+mj-lt"/>
              <a:buAutoNum type="arabicPeriod"/>
            </a:pP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Hawari</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Huzein</a:t>
            </a:r>
            <a:r>
              <a:rPr lang="en-IN" sz="1600" dirty="0">
                <a:latin typeface="Times New Roman" panose="02020603050405020304" pitchFamily="18" charset="0"/>
                <a:cs typeface="Times New Roman" panose="02020603050405020304" pitchFamily="18" charset="0"/>
              </a:rPr>
              <a:t> Fahmi bin, and Sohail Sarang. (2024). </a:t>
            </a:r>
            <a:r>
              <a:rPr lang="en-IN" sz="1600" i="1" dirty="0">
                <a:latin typeface="Times New Roman" panose="02020603050405020304" pitchFamily="18" charset="0"/>
                <a:cs typeface="Times New Roman" panose="02020603050405020304" pitchFamily="18" charset="0"/>
              </a:rPr>
              <a:t>Real-Time Solutions for Water Quality Monitoring Using IoT</a:t>
            </a:r>
            <a:r>
              <a:rPr lang="en-IN" sz="1600" dirty="0">
                <a:latin typeface="Times New Roman" panose="02020603050405020304" pitchFamily="18" charset="0"/>
                <a:cs typeface="Times New Roman" panose="02020603050405020304" pitchFamily="18" charset="0"/>
              </a:rPr>
              <a:t>. Springer.“</a:t>
            </a:r>
          </a:p>
          <a:p>
            <a:pPr marL="400050" indent="-400050">
              <a:buFont typeface="+mj-lt"/>
              <a:buAutoNum type="arabicPeriod"/>
            </a:pPr>
            <a:endParaRPr lang="en-IN" sz="1600" dirty="0">
              <a:latin typeface="Times New Roman" panose="02020603050405020304" pitchFamily="18" charset="0"/>
              <a:cs typeface="Times New Roman" panose="02020603050405020304" pitchFamily="18" charset="0"/>
            </a:endParaRPr>
          </a:p>
          <a:p>
            <a:pPr marL="400050" indent="-400050">
              <a:buFont typeface="+mj-lt"/>
              <a:buAutoNum type="arabicPeriod"/>
            </a:pP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Moparthi</a:t>
            </a:r>
            <a:r>
              <a:rPr lang="en-IN" sz="1600" dirty="0">
                <a:latin typeface="Times New Roman" panose="02020603050405020304" pitchFamily="18" charset="0"/>
                <a:cs typeface="Times New Roman" panose="02020603050405020304" pitchFamily="18" charset="0"/>
              </a:rPr>
              <a:t>, N. R., &amp; Mukesh, C. (2024). Water Quality Monitoring System Using IoT: Design and Implementation. </a:t>
            </a:r>
            <a:r>
              <a:rPr lang="en-IN" sz="1600" i="1" dirty="0">
                <a:latin typeface="Times New Roman" panose="02020603050405020304" pitchFamily="18" charset="0"/>
                <a:cs typeface="Times New Roman" panose="02020603050405020304" pitchFamily="18" charset="0"/>
              </a:rPr>
              <a:t>Journal of Smart Environmental Monitoring</a:t>
            </a:r>
            <a:r>
              <a:rPr lang="en-IN" sz="1600" dirty="0">
                <a:latin typeface="Times New Roman" panose="02020603050405020304" pitchFamily="18" charset="0"/>
                <a:cs typeface="Times New Roman" panose="02020603050405020304" pitchFamily="18" charset="0"/>
              </a:rPr>
              <a:t>, 10(3), 150-158.“</a:t>
            </a:r>
          </a:p>
          <a:p>
            <a:pPr marL="400050" indent="-400050">
              <a:buFont typeface="+mj-lt"/>
              <a:buAutoNum type="arabicPeriod"/>
            </a:pPr>
            <a:endParaRPr lang="en-IN" sz="1600" dirty="0">
              <a:latin typeface="Times New Roman" panose="02020603050405020304" pitchFamily="18" charset="0"/>
              <a:cs typeface="Times New Roman" panose="02020603050405020304" pitchFamily="18" charset="0"/>
            </a:endParaRPr>
          </a:p>
          <a:p>
            <a:pPr marL="400050" indent="-400050">
              <a:buFont typeface="+mj-lt"/>
              <a:buAutoNum type="arabicPeriod"/>
            </a:pP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Budiarti</a:t>
            </a:r>
            <a:r>
              <a:rPr lang="en-US" sz="1600" dirty="0">
                <a:latin typeface="Times New Roman" panose="02020603050405020304" pitchFamily="18" charset="0"/>
                <a:cs typeface="Times New Roman" panose="02020603050405020304" pitchFamily="18" charset="0"/>
              </a:rPr>
              <a:t>, R. P. N., &amp; </a:t>
            </a:r>
            <a:r>
              <a:rPr lang="en-US" sz="1600" dirty="0" err="1">
                <a:latin typeface="Times New Roman" panose="02020603050405020304" pitchFamily="18" charset="0"/>
                <a:cs typeface="Times New Roman" panose="02020603050405020304" pitchFamily="18" charset="0"/>
              </a:rPr>
              <a:t>Tjahjono</a:t>
            </a:r>
            <a:r>
              <a:rPr lang="en-US" sz="1600" dirty="0">
                <a:latin typeface="Times New Roman" panose="02020603050405020304" pitchFamily="18" charset="0"/>
                <a:cs typeface="Times New Roman" panose="02020603050405020304" pitchFamily="18" charset="0"/>
              </a:rPr>
              <a:t>, A. (2024). Development of IoT for Automated Water Quality Monitoring System. </a:t>
            </a:r>
            <a:r>
              <a:rPr lang="en-US" sz="1600" i="1" dirty="0">
                <a:latin typeface="Times New Roman" panose="02020603050405020304" pitchFamily="18" charset="0"/>
                <a:cs typeface="Times New Roman" panose="02020603050405020304" pitchFamily="18" charset="0"/>
              </a:rPr>
              <a:t>Journal of IoT and Smart Environmental Systems</a:t>
            </a:r>
            <a:r>
              <a:rPr lang="en-US" sz="1600" dirty="0">
                <a:latin typeface="Times New Roman" panose="02020603050405020304" pitchFamily="18" charset="0"/>
                <a:cs typeface="Times New Roman" panose="02020603050405020304" pitchFamily="18" charset="0"/>
              </a:rPr>
              <a:t>, 8(4), 200-210.“</a:t>
            </a:r>
          </a:p>
          <a:p>
            <a:pPr marL="400050" indent="-400050">
              <a:buFont typeface="+mj-lt"/>
              <a:buAutoNum type="arabicPeriod"/>
            </a:pPr>
            <a:endParaRPr lang="en-US" sz="1600" dirty="0">
              <a:latin typeface="Times New Roman" panose="02020603050405020304" pitchFamily="18" charset="0"/>
              <a:cs typeface="Times New Roman" panose="02020603050405020304" pitchFamily="18" charset="0"/>
            </a:endParaRPr>
          </a:p>
          <a:p>
            <a:pPr marL="400050" indent="-400050">
              <a:buFont typeface="+mj-lt"/>
              <a:buAutoNum type="arabicPeriod"/>
            </a:pP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Simitha</a:t>
            </a:r>
            <a:r>
              <a:rPr lang="en-US" sz="1600" dirty="0">
                <a:latin typeface="Times New Roman" panose="02020603050405020304" pitchFamily="18" charset="0"/>
                <a:cs typeface="Times New Roman" panose="02020603050405020304" pitchFamily="18" charset="0"/>
              </a:rPr>
              <a:t>, K. M., &amp; Raj, S. M. (2024). IoT and WSN-Based Water Quality Monitoring System: Design and Implementation. </a:t>
            </a:r>
            <a:r>
              <a:rPr lang="en-US" sz="1600" i="1" dirty="0">
                <a:latin typeface="Times New Roman" panose="02020603050405020304" pitchFamily="18" charset="0"/>
                <a:cs typeface="Times New Roman" panose="02020603050405020304" pitchFamily="18" charset="0"/>
              </a:rPr>
              <a:t>Journal of Environmental Monitoring Systems</a:t>
            </a:r>
            <a:r>
              <a:rPr lang="en-US" sz="1600" dirty="0">
                <a:latin typeface="Times New Roman" panose="02020603050405020304" pitchFamily="18" charset="0"/>
                <a:cs typeface="Times New Roman" panose="02020603050405020304" pitchFamily="18" charset="0"/>
              </a:rPr>
              <a:t>, 15(2), 115-125."</a:t>
            </a:r>
            <a:endParaRPr lang="en-IN" sz="1600" dirty="0">
              <a:latin typeface="Times New Roman" panose="02020603050405020304" pitchFamily="18" charset="0"/>
              <a:cs typeface="Times New Roman" panose="02020603050405020304" pitchFamily="18" charset="0"/>
            </a:endParaRPr>
          </a:p>
        </p:txBody>
      </p:sp>
      <p:pic>
        <p:nvPicPr>
          <p:cNvPr id="4" name="Picture 1">
            <a:extLst>
              <a:ext uri="{FF2B5EF4-FFF2-40B4-BE49-F238E27FC236}">
                <a16:creationId xmlns:a16="http://schemas.microsoft.com/office/drawing/2014/main" id="{A40F38CC-9A63-6E8C-FC88-DD09EA21A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5733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0A32B92-8A02-D1F5-74D3-4DAC8D97AE12}"/>
              </a:ext>
            </a:extLst>
          </p:cNvPr>
          <p:cNvPicPr>
            <a:picLocks noChangeAspect="1"/>
          </p:cNvPicPr>
          <p:nvPr/>
        </p:nvPicPr>
        <p:blipFill>
          <a:blip r:embed="rId2"/>
          <a:stretch>
            <a:fillRect/>
          </a:stretch>
        </p:blipFill>
        <p:spPr>
          <a:xfrm>
            <a:off x="0" y="0"/>
            <a:ext cx="12192000" cy="6858000"/>
          </a:xfrm>
          <a:prstGeom prst="rect">
            <a:avLst/>
          </a:prstGeom>
          <a:ln>
            <a:solidFill>
              <a:schemeClr val="bg1"/>
            </a:solidFill>
          </a:ln>
        </p:spPr>
      </p:pic>
    </p:spTree>
    <p:extLst>
      <p:ext uri="{BB962C8B-B14F-4D97-AF65-F5344CB8AC3E}">
        <p14:creationId xmlns:p14="http://schemas.microsoft.com/office/powerpoint/2010/main" val="540407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Depth</Template>
  <TotalTime>1238</TotalTime>
  <Words>3930</Words>
  <Application>Microsoft Office PowerPoint</Application>
  <PresentationFormat>Widescreen</PresentationFormat>
  <Paragraphs>319</Paragraphs>
  <Slides>29</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Calibri</vt:lpstr>
      <vt:lpstr>Century Gothic</vt:lpstr>
      <vt:lpstr>Corbel</vt:lpstr>
      <vt:lpstr>Courier New</vt:lpstr>
      <vt:lpstr>Google Sans</vt:lpstr>
      <vt:lpstr>HelveticaNeue Regular</vt:lpstr>
      <vt:lpstr>Times New Roman</vt:lpstr>
      <vt:lpstr>Wingdings</vt:lpstr>
      <vt:lpstr>Depth</vt:lpstr>
      <vt:lpstr>PowerPoint Presentation</vt:lpstr>
      <vt:lpstr>PowerPoint Presentation</vt:lpstr>
      <vt:lpstr>PowerPoint Presentation</vt:lpstr>
      <vt:lpstr>PowerPoint Presentation</vt:lpstr>
      <vt:lpstr>INTRODUCTION</vt:lpstr>
      <vt:lpstr>LITERATURE SURVEY</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Shaik Ameen</dc:creator>
  <cp:lastModifiedBy>Shaik Ameen</cp:lastModifiedBy>
  <cp:revision>31</cp:revision>
  <dcterms:created xsi:type="dcterms:W3CDTF">2024-08-01T12:26:06Z</dcterms:created>
  <dcterms:modified xsi:type="dcterms:W3CDTF">2025-10-18T10:24:26Z</dcterms:modified>
</cp:coreProperties>
</file>